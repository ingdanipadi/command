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75" r:id="rId5"/>
    <p:sldId id="264" r:id="rId6"/>
    <p:sldId id="265" r:id="rId7"/>
    <p:sldId id="268" r:id="rId8"/>
    <p:sldId id="276" r:id="rId9"/>
    <p:sldId id="271" r:id="rId10"/>
    <p:sldId id="272" r:id="rId11"/>
    <p:sldId id="274" r:id="rId12"/>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534"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9" cy="10285721"/>
          </a:xfrm>
          <a:prstGeom prst="rect">
            <a:avLst/>
          </a:prstGeom>
        </p:spPr>
      </p:pic>
      <p:pic>
        <p:nvPicPr>
          <p:cNvPr id="17" name="bg object 17"/>
          <p:cNvPicPr/>
          <p:nvPr/>
        </p:nvPicPr>
        <p:blipFill>
          <a:blip r:embed="rId3" cstate="print"/>
          <a:stretch>
            <a:fillRect/>
          </a:stretch>
        </p:blipFill>
        <p:spPr>
          <a:xfrm>
            <a:off x="6430441" y="6029663"/>
            <a:ext cx="4762499" cy="3714749"/>
          </a:xfrm>
          <a:prstGeom prst="rect">
            <a:avLst/>
          </a:prstGeom>
        </p:spPr>
      </p:pic>
      <p:sp>
        <p:nvSpPr>
          <p:cNvPr id="2" name="Holder 2"/>
          <p:cNvSpPr>
            <a:spLocks noGrp="1"/>
          </p:cNvSpPr>
          <p:nvPr>
            <p:ph type="ctrTitle"/>
          </p:nvPr>
        </p:nvSpPr>
        <p:spPr>
          <a:xfrm>
            <a:off x="6033739" y="998150"/>
            <a:ext cx="6382384" cy="772794"/>
          </a:xfrm>
          <a:prstGeom prst="rect">
            <a:avLst/>
          </a:prstGeom>
        </p:spPr>
        <p:txBody>
          <a:bodyPr wrap="square" lIns="0" tIns="0" rIns="0" bIns="0">
            <a:spAutoFit/>
          </a:bodyPr>
          <a:lstStyle>
            <a:lvl1pPr>
              <a:defRPr sz="4900" b="0" i="0">
                <a:solidFill>
                  <a:schemeClr val="tx1"/>
                </a:solidFill>
                <a:latin typeface="Arial Black"/>
                <a:cs typeface="Arial Black"/>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41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0" i="0">
                <a:solidFill>
                  <a:schemeClr val="tx1"/>
                </a:solidFill>
                <a:latin typeface="Arial Black"/>
                <a:cs typeface="Arial Black"/>
              </a:defRPr>
            </a:lvl1pPr>
          </a:lstStyle>
          <a:p>
            <a:endParaRPr/>
          </a:p>
        </p:txBody>
      </p:sp>
      <p:sp>
        <p:nvSpPr>
          <p:cNvPr id="3" name="Holder 3"/>
          <p:cNvSpPr>
            <a:spLocks noGrp="1"/>
          </p:cNvSpPr>
          <p:nvPr>
            <p:ph type="body" idx="1"/>
          </p:nvPr>
        </p:nvSpPr>
        <p:spPr/>
        <p:txBody>
          <a:bodyPr lIns="0" tIns="0" rIns="0" bIns="0"/>
          <a:lstStyle>
            <a:lvl1pPr>
              <a:defRPr sz="41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0" i="0">
                <a:solidFill>
                  <a:schemeClr val="tx1"/>
                </a:solidFill>
                <a:latin typeface="Arial Black"/>
                <a:cs typeface="Arial Black"/>
              </a:defRPr>
            </a:lvl1pPr>
          </a:lstStyle>
          <a:p>
            <a:endParaRPr/>
          </a:p>
        </p:txBody>
      </p:sp>
      <p:sp>
        <p:nvSpPr>
          <p:cNvPr id="3" name="Holder 3"/>
          <p:cNvSpPr>
            <a:spLocks noGrp="1"/>
          </p:cNvSpPr>
          <p:nvPr>
            <p:ph sz="half" idx="2"/>
          </p:nvPr>
        </p:nvSpPr>
        <p:spPr>
          <a:xfrm>
            <a:off x="352532" y="3389661"/>
            <a:ext cx="6894195" cy="6501765"/>
          </a:xfrm>
          <a:prstGeom prst="rect">
            <a:avLst/>
          </a:prstGeom>
        </p:spPr>
        <p:txBody>
          <a:bodyPr wrap="square" lIns="0" tIns="0" rIns="0" bIns="0">
            <a:spAutoFit/>
          </a:bodyPr>
          <a:lstStyle>
            <a:lvl1pPr>
              <a:defRPr sz="4100" b="0" i="0">
                <a:solidFill>
                  <a:schemeClr val="tx1"/>
                </a:solidFill>
                <a:latin typeface="Arial Black"/>
                <a:cs typeface="Arial Black"/>
              </a:defRPr>
            </a:lvl1pPr>
          </a:lstStyle>
          <a:p>
            <a:endParaRPr/>
          </a:p>
        </p:txBody>
      </p:sp>
      <p:sp>
        <p:nvSpPr>
          <p:cNvPr id="4" name="Holder 4"/>
          <p:cNvSpPr>
            <a:spLocks noGrp="1"/>
          </p:cNvSpPr>
          <p:nvPr>
            <p:ph sz="half" idx="3"/>
          </p:nvPr>
        </p:nvSpPr>
        <p:spPr>
          <a:xfrm>
            <a:off x="11089017" y="3391473"/>
            <a:ext cx="6632575" cy="6499859"/>
          </a:xfrm>
          <a:prstGeom prst="rect">
            <a:avLst/>
          </a:prstGeom>
        </p:spPr>
        <p:txBody>
          <a:bodyPr wrap="square" lIns="0" tIns="0" rIns="0" bIns="0">
            <a:spAutoFit/>
          </a:bodyPr>
          <a:lstStyle>
            <a:lvl1pPr>
              <a:defRPr sz="4100" b="0" i="0">
                <a:solidFill>
                  <a:schemeClr val="tx1"/>
                </a:solidFill>
                <a:latin typeface="Arial Black"/>
                <a:cs typeface="Arial Black"/>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9" cy="10285721"/>
          </a:xfrm>
          <a:prstGeom prst="rect">
            <a:avLst/>
          </a:prstGeom>
        </p:spPr>
      </p:pic>
      <p:pic>
        <p:nvPicPr>
          <p:cNvPr id="17" name="bg object 17"/>
          <p:cNvPicPr/>
          <p:nvPr/>
        </p:nvPicPr>
        <p:blipFill>
          <a:blip r:embed="rId3" cstate="print"/>
          <a:stretch>
            <a:fillRect/>
          </a:stretch>
        </p:blipFill>
        <p:spPr>
          <a:xfrm>
            <a:off x="0" y="2230793"/>
            <a:ext cx="18253778" cy="7429499"/>
          </a:xfrm>
          <a:prstGeom prst="rect">
            <a:avLst/>
          </a:prstGeom>
        </p:spPr>
      </p:pic>
      <p:sp>
        <p:nvSpPr>
          <p:cNvPr id="2" name="Holder 2"/>
          <p:cNvSpPr>
            <a:spLocks noGrp="1"/>
          </p:cNvSpPr>
          <p:nvPr>
            <p:ph type="title"/>
          </p:nvPr>
        </p:nvSpPr>
        <p:spPr/>
        <p:txBody>
          <a:bodyPr lIns="0" tIns="0" rIns="0" bIns="0"/>
          <a:lstStyle>
            <a:lvl1pPr>
              <a:defRPr sz="4900" b="0" i="0">
                <a:solidFill>
                  <a:schemeClr val="tx1"/>
                </a:solidFill>
                <a:latin typeface="Arial Black"/>
                <a:cs typeface="Arial Black"/>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8287997" cy="10285721"/>
          </a:xfrm>
          <a:prstGeom prst="rect">
            <a:avLst/>
          </a:prstGeom>
        </p:spPr>
      </p:pic>
      <p:pic>
        <p:nvPicPr>
          <p:cNvPr id="17" name="bg object 17"/>
          <p:cNvPicPr/>
          <p:nvPr/>
        </p:nvPicPr>
        <p:blipFill>
          <a:blip r:embed="rId3" cstate="print"/>
          <a:stretch>
            <a:fillRect/>
          </a:stretch>
        </p:blipFill>
        <p:spPr>
          <a:xfrm>
            <a:off x="0" y="19177"/>
            <a:ext cx="18287999" cy="10267822"/>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0" y="0"/>
            <a:ext cx="18287999" cy="10285721"/>
          </a:xfrm>
          <a:prstGeom prst="rect">
            <a:avLst/>
          </a:prstGeom>
        </p:spPr>
      </p:pic>
      <p:sp>
        <p:nvSpPr>
          <p:cNvPr id="2" name="Holder 2"/>
          <p:cNvSpPr>
            <a:spLocks noGrp="1"/>
          </p:cNvSpPr>
          <p:nvPr>
            <p:ph type="title"/>
          </p:nvPr>
        </p:nvSpPr>
        <p:spPr>
          <a:xfrm>
            <a:off x="2135088" y="1674060"/>
            <a:ext cx="13692505" cy="1137920"/>
          </a:xfrm>
          <a:prstGeom prst="rect">
            <a:avLst/>
          </a:prstGeom>
        </p:spPr>
        <p:txBody>
          <a:bodyPr wrap="square" lIns="0" tIns="0" rIns="0" bIns="0">
            <a:spAutoFit/>
          </a:bodyPr>
          <a:lstStyle>
            <a:lvl1pPr>
              <a:defRPr sz="4900" b="0" i="0">
                <a:solidFill>
                  <a:schemeClr val="tx1"/>
                </a:solidFill>
                <a:latin typeface="Arial Black"/>
                <a:cs typeface="Arial Black"/>
              </a:defRPr>
            </a:lvl1pPr>
          </a:lstStyle>
          <a:p>
            <a:endParaRPr/>
          </a:p>
        </p:txBody>
      </p:sp>
      <p:sp>
        <p:nvSpPr>
          <p:cNvPr id="3" name="Holder 3"/>
          <p:cNvSpPr>
            <a:spLocks noGrp="1"/>
          </p:cNvSpPr>
          <p:nvPr>
            <p:ph type="body" idx="1"/>
          </p:nvPr>
        </p:nvSpPr>
        <p:spPr>
          <a:xfrm>
            <a:off x="10022443" y="3189545"/>
            <a:ext cx="7574915" cy="3423920"/>
          </a:xfrm>
          <a:prstGeom prst="rect">
            <a:avLst/>
          </a:prstGeom>
        </p:spPr>
        <p:txBody>
          <a:bodyPr wrap="square" lIns="0" tIns="0" rIns="0" bIns="0">
            <a:spAutoFit/>
          </a:bodyPr>
          <a:lstStyle>
            <a:lvl1pPr>
              <a:defRPr sz="4100" b="0" i="0">
                <a:solidFill>
                  <a:schemeClr val="tx1"/>
                </a:solidFill>
                <a:latin typeface="Arial Black"/>
                <a:cs typeface="Arial Black"/>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5/28/2026</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jpe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18288000" cy="10286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4648200" y="190500"/>
            <a:ext cx="8915400" cy="1054199"/>
          </a:xfrm>
          <a:prstGeom prst="rect">
            <a:avLst/>
          </a:prstGeom>
        </p:spPr>
        <p:txBody>
          <a:bodyPr vert="horz" wrap="square" lIns="0" tIns="12065" rIns="0" bIns="0" rtlCol="0">
            <a:spAutoFit/>
          </a:bodyPr>
          <a:lstStyle/>
          <a:p>
            <a:pPr marL="12700" marR="5080" indent="495300">
              <a:lnSpc>
                <a:spcPct val="116500"/>
              </a:lnSpc>
              <a:spcBef>
                <a:spcPts val="95"/>
              </a:spcBef>
            </a:pPr>
            <a:r>
              <a:rPr lang="es-ES" sz="2950" spc="-195" dirty="0">
                <a:solidFill>
                  <a:srgbClr val="535353"/>
                </a:solidFill>
                <a:latin typeface="Arial Black"/>
                <a:cs typeface="Arial Black"/>
              </a:rPr>
              <a:t>INTEGRANTES: David Coronel</a:t>
            </a:r>
          </a:p>
          <a:p>
            <a:pPr marL="12700" marR="5080" indent="495300">
              <a:lnSpc>
                <a:spcPct val="116500"/>
              </a:lnSpc>
              <a:spcBef>
                <a:spcPts val="95"/>
              </a:spcBef>
            </a:pPr>
            <a:r>
              <a:rPr lang="es-ES" sz="2950" spc="-195" dirty="0">
                <a:solidFill>
                  <a:srgbClr val="535353"/>
                </a:solidFill>
                <a:latin typeface="Arial Black"/>
                <a:cs typeface="Arial Black"/>
              </a:rPr>
              <a:t>                             Daniel Padilla </a:t>
            </a:r>
            <a:endParaRPr lang="es-ES" sz="2950" dirty="0">
              <a:latin typeface="Arial Black"/>
              <a:cs typeface="Arial Black"/>
            </a:endParaRPr>
          </a:p>
        </p:txBody>
      </p:sp>
      <p:sp>
        <p:nvSpPr>
          <p:cNvPr id="4" name="object 4" descr="$PPTXTitle"/>
          <p:cNvSpPr txBox="1">
            <a:spLocks noGrp="1"/>
          </p:cNvSpPr>
          <p:nvPr>
            <p:ph type="title"/>
          </p:nvPr>
        </p:nvSpPr>
        <p:spPr>
          <a:xfrm>
            <a:off x="1066800" y="1562100"/>
            <a:ext cx="14883765" cy="2089226"/>
          </a:xfrm>
          <a:prstGeom prst="rect">
            <a:avLst/>
          </a:prstGeom>
        </p:spPr>
        <p:txBody>
          <a:bodyPr vert="horz" wrap="square" lIns="0" tIns="12065" rIns="0" bIns="0" rtlCol="0">
            <a:spAutoFit/>
          </a:bodyPr>
          <a:lstStyle/>
          <a:p>
            <a:pPr marL="12700" marR="5080" algn="ctr">
              <a:lnSpc>
                <a:spcPct val="116100"/>
              </a:lnSpc>
              <a:spcBef>
                <a:spcPts val="95"/>
              </a:spcBef>
            </a:pPr>
            <a:r>
              <a:rPr sz="6000" b="1" spc="120" dirty="0">
                <a:latin typeface="Arial Black" panose="020B0A04020102020204" pitchFamily="34" charset="0"/>
                <a:cs typeface="Arial"/>
              </a:rPr>
              <a:t>PATRON</a:t>
            </a:r>
            <a:r>
              <a:rPr sz="6000" b="1" spc="-30" dirty="0">
                <a:latin typeface="Arial Black" panose="020B0A04020102020204" pitchFamily="34" charset="0"/>
                <a:cs typeface="Arial"/>
              </a:rPr>
              <a:t> </a:t>
            </a:r>
            <a:r>
              <a:rPr sz="6000" b="1" spc="-280" dirty="0">
                <a:latin typeface="Arial Black" panose="020B0A04020102020204" pitchFamily="34" charset="0"/>
                <a:cs typeface="Arial"/>
              </a:rPr>
              <a:t>DE</a:t>
            </a:r>
            <a:r>
              <a:rPr sz="6000" b="1" spc="-250" dirty="0">
                <a:latin typeface="Arial Black" panose="020B0A04020102020204" pitchFamily="34" charset="0"/>
                <a:cs typeface="Arial"/>
              </a:rPr>
              <a:t> </a:t>
            </a:r>
            <a:r>
              <a:rPr sz="6000" b="1" spc="180" dirty="0">
                <a:latin typeface="Arial Black" panose="020B0A04020102020204" pitchFamily="34" charset="0"/>
                <a:cs typeface="Arial"/>
              </a:rPr>
              <a:t>COMPORTAMIENTO: </a:t>
            </a:r>
            <a:r>
              <a:rPr lang="es-ES" sz="6000" b="1" spc="75" dirty="0">
                <a:latin typeface="Arial Black" panose="020B0A04020102020204" pitchFamily="34" charset="0"/>
                <a:cs typeface="Arial"/>
              </a:rPr>
              <a:t>COMMAND</a:t>
            </a:r>
            <a:endParaRPr sz="6000" dirty="0">
              <a:latin typeface="Arial Black" panose="020B0A04020102020204" pitchFamily="34" charset="0"/>
              <a:cs typeface="Arial"/>
            </a:endParaRPr>
          </a:p>
        </p:txBody>
      </p:sp>
      <p:pic>
        <p:nvPicPr>
          <p:cNvPr id="9" name="Imagen 8">
            <a:extLst>
              <a:ext uri="{FF2B5EF4-FFF2-40B4-BE49-F238E27FC236}">
                <a16:creationId xmlns:a16="http://schemas.microsoft.com/office/drawing/2014/main" id="{EA7D987D-66E9-6008-516E-749C2C102944}"/>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a14:imgEffect>
                  </a14:imgLayer>
                </a14:imgProps>
              </a:ext>
            </a:extLst>
          </a:blip>
          <a:stretch>
            <a:fillRect/>
          </a:stretch>
        </p:blipFill>
        <p:spPr>
          <a:xfrm>
            <a:off x="9179417" y="3851351"/>
            <a:ext cx="7162800" cy="447675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10" name="CuadroTexto 9">
            <a:extLst>
              <a:ext uri="{FF2B5EF4-FFF2-40B4-BE49-F238E27FC236}">
                <a16:creationId xmlns:a16="http://schemas.microsoft.com/office/drawing/2014/main" id="{258B92E4-F583-F52C-0F22-EA84FA62BCAE}"/>
              </a:ext>
            </a:extLst>
          </p:cNvPr>
          <p:cNvSpPr txBox="1"/>
          <p:nvPr/>
        </p:nvSpPr>
        <p:spPr>
          <a:xfrm>
            <a:off x="1066800" y="5143500"/>
            <a:ext cx="7162800" cy="1754326"/>
          </a:xfrm>
          <a:prstGeom prst="rect">
            <a:avLst/>
          </a:prstGeom>
          <a:noFill/>
        </p:spPr>
        <p:txBody>
          <a:bodyPr wrap="square" rtlCol="0">
            <a:spAutoFit/>
          </a:bodyPr>
          <a:lstStyle/>
          <a:p>
            <a:r>
              <a:rPr lang="es-ES" b="1" dirty="0" err="1">
                <a:latin typeface="Arial" panose="020B0604020202020204" pitchFamily="34" charset="0"/>
                <a:cs typeface="Arial" panose="020B0604020202020204" pitchFamily="34" charset="0"/>
              </a:rPr>
              <a:t>Command</a:t>
            </a:r>
            <a:r>
              <a:rPr lang="es-ES" dirty="0">
                <a:latin typeface="Arial" panose="020B0604020202020204" pitchFamily="34" charset="0"/>
                <a:cs typeface="Arial" panose="020B0604020202020204" pitchFamily="34" charset="0"/>
              </a:rPr>
              <a:t> es un patrón de diseño de comportamiento que convierte una solicitud en un objeto independiente que contiene toda la información sobre la solicitud. Esta transformación te permite parametrizar los métodos con diferentes solicitudes, retrasar o poner en cola la ejecución de una solicitud y soportar operaciones que no se pueden realizar.</a:t>
            </a:r>
            <a:endParaRPr lang="es-CO"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10" descr="$PPTXTitle"/>
          <p:cNvSpPr txBox="1">
            <a:spLocks noGrp="1"/>
          </p:cNvSpPr>
          <p:nvPr>
            <p:ph type="title"/>
          </p:nvPr>
        </p:nvSpPr>
        <p:spPr>
          <a:xfrm>
            <a:off x="2438400" y="1028700"/>
            <a:ext cx="12344400" cy="843821"/>
          </a:xfrm>
          <a:prstGeom prst="rect">
            <a:avLst/>
          </a:prstGeom>
        </p:spPr>
        <p:txBody>
          <a:bodyPr vert="horz" wrap="square" lIns="0" tIns="12700" rIns="0" bIns="0" rtlCol="0">
            <a:spAutoFit/>
          </a:bodyPr>
          <a:lstStyle/>
          <a:p>
            <a:pPr marL="12700" algn="ctr">
              <a:lnSpc>
                <a:spcPct val="100000"/>
              </a:lnSpc>
              <a:spcBef>
                <a:spcPts val="100"/>
              </a:spcBef>
            </a:pPr>
            <a:r>
              <a:rPr lang="es-ES" sz="5400" spc="135" dirty="0">
                <a:latin typeface="Arial Black" panose="020B0A04020102020204" pitchFamily="34" charset="0"/>
                <a:cs typeface="Cambria"/>
              </a:rPr>
              <a:t>PROBLEMA Y QUE RESUELVE</a:t>
            </a:r>
            <a:endParaRPr sz="5400" dirty="0">
              <a:latin typeface="Arial Black" panose="020B0A04020102020204" pitchFamily="34" charset="0"/>
              <a:cs typeface="Cambria"/>
            </a:endParaRPr>
          </a:p>
        </p:txBody>
      </p:sp>
      <p:sp>
        <p:nvSpPr>
          <p:cNvPr id="14" name="CuadroTexto 13">
            <a:extLst>
              <a:ext uri="{FF2B5EF4-FFF2-40B4-BE49-F238E27FC236}">
                <a16:creationId xmlns:a16="http://schemas.microsoft.com/office/drawing/2014/main" id="{28F7CD74-5B2A-B7BD-063E-1F7A13F01824}"/>
              </a:ext>
            </a:extLst>
          </p:cNvPr>
          <p:cNvSpPr txBox="1"/>
          <p:nvPr/>
        </p:nvSpPr>
        <p:spPr>
          <a:xfrm>
            <a:off x="10896599" y="2198960"/>
            <a:ext cx="6781800" cy="1631216"/>
          </a:xfrm>
          <a:prstGeom prst="rect">
            <a:avLst/>
          </a:prstGeom>
          <a:noFill/>
        </p:spPr>
        <p:txBody>
          <a:bodyPr wrap="square" rtlCol="0">
            <a:spAutoFit/>
          </a:bodyPr>
          <a:lstStyle/>
          <a:p>
            <a:r>
              <a:rPr lang="es-ES" sz="2800" b="1" dirty="0">
                <a:latin typeface="Arial" panose="020B0604020202020204" pitchFamily="34" charset="0"/>
                <a:cs typeface="Arial" panose="020B0604020202020204" pitchFamily="34" charset="0"/>
              </a:rPr>
              <a:t>Dificultad en el diseño de software:</a:t>
            </a:r>
          </a:p>
          <a:p>
            <a:r>
              <a:rPr lang="es-ES" sz="2400" dirty="0">
                <a:latin typeface="Arial" panose="020B0604020202020204" pitchFamily="34" charset="0"/>
                <a:cs typeface="Arial" panose="020B0604020202020204" pitchFamily="34" charset="0"/>
              </a:rPr>
              <a:t>En muchos sistemas, un objeto necesita solicitar acciones a otro objeto, generando un fuerte acoplamiento entre ellos.</a:t>
            </a:r>
          </a:p>
        </p:txBody>
      </p:sp>
      <p:pic>
        <p:nvPicPr>
          <p:cNvPr id="17" name="Imagen 16" descr="El lenguaje de programación no influye en los errores del código">
            <a:extLst>
              <a:ext uri="{FF2B5EF4-FFF2-40B4-BE49-F238E27FC236}">
                <a16:creationId xmlns:a16="http://schemas.microsoft.com/office/drawing/2014/main" id="{AA47B72F-7EC4-AB8F-0BA7-52C325C522F7}"/>
              </a:ext>
            </a:extLst>
          </p:cNvPr>
          <p:cNvPicPr>
            <a:picLocks noChangeAspect="1"/>
          </p:cNvPicPr>
          <p:nvPr/>
        </p:nvPicPr>
        <p:blipFill>
          <a:blip r:embed="rId2"/>
          <a:stretch>
            <a:fillRect/>
          </a:stretch>
        </p:blipFill>
        <p:spPr>
          <a:xfrm>
            <a:off x="609601" y="2418717"/>
            <a:ext cx="6065306" cy="363918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20" name="CuadroTexto 19">
            <a:extLst>
              <a:ext uri="{FF2B5EF4-FFF2-40B4-BE49-F238E27FC236}">
                <a16:creationId xmlns:a16="http://schemas.microsoft.com/office/drawing/2014/main" id="{407CC7EF-15FF-EF10-50FB-1342F689E1DA}"/>
              </a:ext>
            </a:extLst>
          </p:cNvPr>
          <p:cNvSpPr txBox="1"/>
          <p:nvPr/>
        </p:nvSpPr>
        <p:spPr>
          <a:xfrm>
            <a:off x="609601" y="6591301"/>
            <a:ext cx="4114799" cy="2092881"/>
          </a:xfrm>
          <a:prstGeom prst="rect">
            <a:avLst/>
          </a:prstGeom>
          <a:noFill/>
        </p:spPr>
        <p:txBody>
          <a:bodyPr wrap="square" rtlCol="0">
            <a:spAutoFit/>
          </a:bodyPr>
          <a:lstStyle/>
          <a:p>
            <a:pPr algn="l"/>
            <a:r>
              <a:rPr lang="es-CO" sz="1600" b="1" dirty="0">
                <a:latin typeface="Arial" panose="020B0604020202020204" pitchFamily="34" charset="0"/>
                <a:cs typeface="Arial" panose="020B0604020202020204" pitchFamily="34" charset="0"/>
              </a:rPr>
              <a:t>❌ Sin </a:t>
            </a:r>
            <a:r>
              <a:rPr lang="es-CO" sz="1600" b="1" dirty="0" err="1">
                <a:latin typeface="Arial" panose="020B0604020202020204" pitchFamily="34" charset="0"/>
                <a:cs typeface="Arial" panose="020B0604020202020204" pitchFamily="34" charset="0"/>
              </a:rPr>
              <a:t>Command</a:t>
            </a:r>
            <a:r>
              <a:rPr lang="es-CO" sz="1600" b="1" dirty="0">
                <a:latin typeface="Arial" panose="020B0604020202020204" pitchFamily="34" charset="0"/>
                <a:cs typeface="Arial" panose="020B0604020202020204" pitchFamily="34" charset="0"/>
              </a:rPr>
              <a:t> </a:t>
            </a:r>
            <a:br>
              <a:rPr lang="es-CO" sz="1600" dirty="0">
                <a:latin typeface="Arial" panose="020B0604020202020204" pitchFamily="34" charset="0"/>
                <a:cs typeface="Arial" panose="020B0604020202020204" pitchFamily="34" charset="0"/>
              </a:rPr>
            </a:br>
            <a:r>
              <a:rPr lang="es-ES" sz="1600" dirty="0">
                <a:latin typeface="Arial" panose="020B0604020202020204" pitchFamily="34" charset="0"/>
                <a:cs typeface="Arial" panose="020B0604020202020204" pitchFamily="34" charset="0"/>
              </a:rPr>
              <a:t>El control remoto hace esto directamente:</a:t>
            </a:r>
          </a:p>
          <a:p>
            <a:pPr algn="l"/>
            <a:endParaRPr lang="es-ES" sz="1600" dirty="0">
              <a:latin typeface="Arial" panose="020B0604020202020204" pitchFamily="34" charset="0"/>
              <a:cs typeface="Arial" panose="020B0604020202020204" pitchFamily="34" charset="0"/>
            </a:endParaRPr>
          </a:p>
          <a:p>
            <a:pPr algn="l"/>
            <a:r>
              <a:rPr lang="es-CO" sz="1600" dirty="0" err="1">
                <a:latin typeface="Arial" panose="020B0604020202020204" pitchFamily="34" charset="0"/>
                <a:cs typeface="Arial" panose="020B0604020202020204" pitchFamily="34" charset="0"/>
              </a:rPr>
              <a:t>tv.encender</a:t>
            </a:r>
            <a:r>
              <a:rPr lang="es-CO" sz="1600" dirty="0">
                <a:latin typeface="Arial" panose="020B0604020202020204" pitchFamily="34" charset="0"/>
                <a:cs typeface="Arial" panose="020B0604020202020204" pitchFamily="34" charset="0"/>
              </a:rPr>
              <a:t>();</a:t>
            </a:r>
          </a:p>
          <a:p>
            <a:pPr algn="l"/>
            <a:r>
              <a:rPr lang="es-CO" sz="1600" dirty="0" err="1">
                <a:latin typeface="Arial" panose="020B0604020202020204" pitchFamily="34" charset="0"/>
                <a:cs typeface="Arial" panose="020B0604020202020204" pitchFamily="34" charset="0"/>
              </a:rPr>
              <a:t>tv.subirVolumen</a:t>
            </a:r>
            <a:r>
              <a:rPr lang="es-CO" sz="1600" dirty="0">
                <a:latin typeface="Arial" panose="020B0604020202020204" pitchFamily="34" charset="0"/>
                <a:cs typeface="Arial" panose="020B0604020202020204" pitchFamily="34" charset="0"/>
              </a:rPr>
              <a:t>();</a:t>
            </a:r>
          </a:p>
          <a:p>
            <a:pPr algn="l"/>
            <a:r>
              <a:rPr lang="es-CO" sz="1600" dirty="0" err="1">
                <a:latin typeface="Arial" panose="020B0604020202020204" pitchFamily="34" charset="0"/>
                <a:cs typeface="Arial" panose="020B0604020202020204" pitchFamily="34" charset="0"/>
              </a:rPr>
              <a:t>ventilador.apagar</a:t>
            </a:r>
            <a:r>
              <a:rPr lang="es-CO" sz="1600" dirty="0">
                <a:latin typeface="Arial" panose="020B0604020202020204" pitchFamily="34" charset="0"/>
                <a:cs typeface="Arial" panose="020B0604020202020204" pitchFamily="34" charset="0"/>
              </a:rPr>
              <a:t>();</a:t>
            </a:r>
          </a:p>
          <a:p>
            <a:pPr algn="l"/>
            <a:r>
              <a:rPr lang="es-CO" sz="1600" dirty="0" err="1">
                <a:latin typeface="Arial" panose="020B0604020202020204" pitchFamily="34" charset="0"/>
                <a:cs typeface="Arial" panose="020B0604020202020204" pitchFamily="34" charset="0"/>
              </a:rPr>
              <a:t>puerta.abrir</a:t>
            </a:r>
            <a:r>
              <a:rPr lang="es-CO" sz="1600" dirty="0">
                <a:latin typeface="Arial" panose="020B0604020202020204" pitchFamily="34" charset="0"/>
                <a:cs typeface="Arial" panose="020B0604020202020204" pitchFamily="34" charset="0"/>
              </a:rPr>
              <a:t>();</a:t>
            </a:r>
            <a:endParaRPr lang="es-ES" sz="2400" dirty="0">
              <a:latin typeface="Arial" panose="020B0604020202020204" pitchFamily="34" charset="0"/>
              <a:cs typeface="Arial" panose="020B0604020202020204" pitchFamily="34" charset="0"/>
            </a:endParaRPr>
          </a:p>
          <a:p>
            <a:endParaRPr lang="es-CO" dirty="0"/>
          </a:p>
        </p:txBody>
      </p:sp>
      <p:sp>
        <p:nvSpPr>
          <p:cNvPr id="21" name="CuadroTexto 20">
            <a:extLst>
              <a:ext uri="{FF2B5EF4-FFF2-40B4-BE49-F238E27FC236}">
                <a16:creationId xmlns:a16="http://schemas.microsoft.com/office/drawing/2014/main" id="{72885EA7-78BE-F911-DAA5-6A359D0E6B5A}"/>
              </a:ext>
            </a:extLst>
          </p:cNvPr>
          <p:cNvSpPr txBox="1"/>
          <p:nvPr/>
        </p:nvSpPr>
        <p:spPr>
          <a:xfrm>
            <a:off x="4709375" y="6610083"/>
            <a:ext cx="4114799" cy="2123658"/>
          </a:xfrm>
          <a:prstGeom prst="rect">
            <a:avLst/>
          </a:prstGeom>
          <a:noFill/>
        </p:spPr>
        <p:txBody>
          <a:bodyPr wrap="square" rtlCol="0">
            <a:spAutoFit/>
          </a:bodyPr>
          <a:lstStyle/>
          <a:p>
            <a:r>
              <a:rPr lang="es-CO" sz="1600" b="1" dirty="0">
                <a:latin typeface="Arial" panose="020B0604020202020204" pitchFamily="34" charset="0"/>
                <a:cs typeface="Arial" panose="020B0604020202020204" pitchFamily="34" charset="0"/>
              </a:rPr>
              <a:t>✅ Con </a:t>
            </a:r>
            <a:r>
              <a:rPr lang="es-CO" sz="1600" b="1" dirty="0" err="1">
                <a:latin typeface="Arial" panose="020B0604020202020204" pitchFamily="34" charset="0"/>
                <a:cs typeface="Arial" panose="020B0604020202020204" pitchFamily="34" charset="0"/>
              </a:rPr>
              <a:t>Command</a:t>
            </a:r>
            <a:br>
              <a:rPr lang="es-CO" sz="1600" dirty="0">
                <a:latin typeface="Arial" panose="020B0604020202020204" pitchFamily="34" charset="0"/>
                <a:cs typeface="Arial" panose="020B0604020202020204" pitchFamily="34" charset="0"/>
              </a:rPr>
            </a:br>
            <a:r>
              <a:rPr lang="es-ES" sz="1600" dirty="0">
                <a:latin typeface="Arial" panose="020B0604020202020204" pitchFamily="34" charset="0"/>
                <a:cs typeface="Arial" panose="020B0604020202020204" pitchFamily="34" charset="0"/>
              </a:rPr>
              <a:t>El control solo ejecuta comandos:</a:t>
            </a:r>
          </a:p>
          <a:p>
            <a:pPr algn="l"/>
            <a:r>
              <a:rPr lang="es-CO" sz="1600" dirty="0" err="1">
                <a:latin typeface="Arial" panose="020B0604020202020204" pitchFamily="34" charset="0"/>
                <a:cs typeface="Arial" panose="020B0604020202020204" pitchFamily="34" charset="0"/>
              </a:rPr>
              <a:t>boton.presionar</a:t>
            </a:r>
            <a:r>
              <a:rPr lang="es-CO" sz="1600" dirty="0">
                <a:latin typeface="Arial" panose="020B0604020202020204" pitchFamily="34" charset="0"/>
                <a:cs typeface="Arial" panose="020B0604020202020204" pitchFamily="34" charset="0"/>
              </a:rPr>
              <a:t>();</a:t>
            </a:r>
          </a:p>
          <a:p>
            <a:pPr algn="l"/>
            <a:endParaRPr lang="es-CO" sz="1600" dirty="0">
              <a:latin typeface="Arial" panose="020B0604020202020204" pitchFamily="34" charset="0"/>
              <a:cs typeface="Arial" panose="020B0604020202020204" pitchFamily="34" charset="0"/>
            </a:endParaRPr>
          </a:p>
          <a:p>
            <a:pPr algn="ctr"/>
            <a:r>
              <a:rPr lang="es-CO" sz="1600" dirty="0">
                <a:latin typeface="Arial" panose="020B0604020202020204" pitchFamily="34" charset="0"/>
                <a:cs typeface="Arial" panose="020B0604020202020204" pitchFamily="34" charset="0"/>
              </a:rPr>
              <a:t>Internamente decide ⬇</a:t>
            </a:r>
          </a:p>
          <a:p>
            <a:pPr algn="ctr"/>
            <a:endParaRPr lang="es-CO" sz="1600" dirty="0">
              <a:latin typeface="Arial" panose="020B0604020202020204" pitchFamily="34" charset="0"/>
              <a:cs typeface="Arial" panose="020B0604020202020204" pitchFamily="34" charset="0"/>
            </a:endParaRPr>
          </a:p>
          <a:p>
            <a:pPr algn="l"/>
            <a:r>
              <a:rPr lang="es-CO" sz="1600" dirty="0" err="1">
                <a:latin typeface="Arial" panose="020B0604020202020204" pitchFamily="34" charset="0"/>
                <a:cs typeface="Arial" panose="020B0604020202020204" pitchFamily="34" charset="0"/>
              </a:rPr>
              <a:t>encenderTV.execute</a:t>
            </a:r>
            <a:r>
              <a:rPr lang="es-CO" sz="1600" dirty="0">
                <a:latin typeface="Arial" panose="020B0604020202020204" pitchFamily="34" charset="0"/>
                <a:cs typeface="Arial" panose="020B0604020202020204" pitchFamily="34" charset="0"/>
              </a:rPr>
              <a:t>();</a:t>
            </a:r>
          </a:p>
          <a:p>
            <a:pPr algn="l"/>
            <a:r>
              <a:rPr lang="es-CO" sz="1600" dirty="0" err="1">
                <a:latin typeface="Arial" panose="020B0604020202020204" pitchFamily="34" charset="0"/>
                <a:cs typeface="Arial" panose="020B0604020202020204" pitchFamily="34" charset="0"/>
              </a:rPr>
              <a:t>abrirPuerta.execute</a:t>
            </a:r>
            <a:r>
              <a:rPr lang="es-CO" sz="1600" dirty="0">
                <a:latin typeface="Arial" panose="020B0604020202020204" pitchFamily="34" charset="0"/>
                <a:cs typeface="Arial" panose="020B0604020202020204" pitchFamily="34" charset="0"/>
              </a:rPr>
              <a:t>();</a:t>
            </a:r>
          </a:p>
        </p:txBody>
      </p:sp>
      <p:sp>
        <p:nvSpPr>
          <p:cNvPr id="22" name="CuadroTexto 21">
            <a:extLst>
              <a:ext uri="{FF2B5EF4-FFF2-40B4-BE49-F238E27FC236}">
                <a16:creationId xmlns:a16="http://schemas.microsoft.com/office/drawing/2014/main" id="{B62BF1D3-505F-EE44-8D1C-1A76F192107C}"/>
              </a:ext>
            </a:extLst>
          </p:cNvPr>
          <p:cNvSpPr txBox="1"/>
          <p:nvPr/>
        </p:nvSpPr>
        <p:spPr>
          <a:xfrm>
            <a:off x="7383781" y="3830176"/>
            <a:ext cx="6781800" cy="3016210"/>
          </a:xfrm>
          <a:prstGeom prst="rect">
            <a:avLst/>
          </a:prstGeom>
          <a:noFill/>
        </p:spPr>
        <p:txBody>
          <a:bodyPr wrap="square" rtlCol="0">
            <a:spAutoFit/>
          </a:bodyPr>
          <a:lstStyle/>
          <a:p>
            <a:r>
              <a:rPr lang="es-ES" sz="2800" b="1" dirty="0">
                <a:latin typeface="Arial" panose="020B0604020202020204" pitchFamily="34" charset="0"/>
                <a:cs typeface="Arial" panose="020B0604020202020204" pitchFamily="34" charset="0"/>
              </a:rPr>
              <a:t>Problemas si NO se usa el patrón:</a:t>
            </a:r>
          </a:p>
          <a:p>
            <a:pPr marL="342900" indent="-342900">
              <a:buClr>
                <a:srgbClr val="FF0000"/>
              </a:buClr>
              <a:buFont typeface="Arial" panose="020B0604020202020204" pitchFamily="34" charset="0"/>
              <a:buChar char="X"/>
            </a:pPr>
            <a:r>
              <a:rPr lang="es-ES" sz="2400" dirty="0">
                <a:latin typeface="Arial" panose="020B0604020202020204" pitchFamily="34" charset="0"/>
                <a:cs typeface="Arial" panose="020B0604020202020204" pitchFamily="34" charset="0"/>
              </a:rPr>
              <a:t>Código muy dependiente entre clases. </a:t>
            </a:r>
          </a:p>
          <a:p>
            <a:pPr marL="342900" indent="-342900">
              <a:buClr>
                <a:srgbClr val="FF0000"/>
              </a:buClr>
              <a:buFont typeface="Arial" panose="020B0604020202020204" pitchFamily="34" charset="0"/>
              <a:buChar char="X"/>
            </a:pPr>
            <a:r>
              <a:rPr lang="es-ES" sz="2400" dirty="0">
                <a:latin typeface="Arial" panose="020B0604020202020204" pitchFamily="34" charset="0"/>
                <a:cs typeface="Arial" panose="020B0604020202020204" pitchFamily="34" charset="0"/>
              </a:rPr>
              <a:t>Difícil agregar nuevas acciones. </a:t>
            </a:r>
          </a:p>
          <a:p>
            <a:pPr marL="342900" indent="-342900">
              <a:buClr>
                <a:srgbClr val="FF0000"/>
              </a:buClr>
              <a:buFont typeface="Arial" panose="020B0604020202020204" pitchFamily="34" charset="0"/>
              <a:buChar char="X"/>
            </a:pPr>
            <a:r>
              <a:rPr lang="es-ES" sz="2400" dirty="0">
                <a:latin typeface="Arial" panose="020B0604020202020204" pitchFamily="34" charset="0"/>
                <a:cs typeface="Arial" panose="020B0604020202020204" pitchFamily="34" charset="0"/>
              </a:rPr>
              <a:t>Muchas estructuras </a:t>
            </a:r>
            <a:r>
              <a:rPr lang="es-ES" sz="2400" dirty="0" err="1">
                <a:latin typeface="Arial" panose="020B0604020202020204" pitchFamily="34" charset="0"/>
                <a:cs typeface="Arial" panose="020B0604020202020204" pitchFamily="34" charset="0"/>
              </a:rPr>
              <a:t>if-else</a:t>
            </a:r>
            <a:r>
              <a:rPr lang="es-ES" sz="2400" dirty="0">
                <a:latin typeface="Arial" panose="020B0604020202020204" pitchFamily="34" charset="0"/>
                <a:cs typeface="Arial" panose="020B0604020202020204" pitchFamily="34" charset="0"/>
              </a:rPr>
              <a:t> o switch. </a:t>
            </a:r>
          </a:p>
          <a:p>
            <a:pPr marL="342900" indent="-342900">
              <a:buClr>
                <a:srgbClr val="FF0000"/>
              </a:buClr>
              <a:buFont typeface="Arial" panose="020B0604020202020204" pitchFamily="34" charset="0"/>
              <a:buChar char="X"/>
            </a:pPr>
            <a:r>
              <a:rPr lang="es-ES" sz="2400" dirty="0">
                <a:latin typeface="Arial" panose="020B0604020202020204" pitchFamily="34" charset="0"/>
                <a:cs typeface="Arial" panose="020B0604020202020204" pitchFamily="34" charset="0"/>
              </a:rPr>
              <a:t>Complicado implementar </a:t>
            </a:r>
            <a:r>
              <a:rPr lang="es-ES" sz="2400" b="1" dirty="0">
                <a:latin typeface="Arial" panose="020B0604020202020204" pitchFamily="34" charset="0"/>
                <a:cs typeface="Arial" panose="020B0604020202020204" pitchFamily="34" charset="0"/>
              </a:rPr>
              <a:t>deshacer/rehacer (</a:t>
            </a:r>
            <a:r>
              <a:rPr lang="es-ES" sz="2400" b="1" dirty="0" err="1">
                <a:latin typeface="Arial" panose="020B0604020202020204" pitchFamily="34" charset="0"/>
                <a:cs typeface="Arial" panose="020B0604020202020204" pitchFamily="34" charset="0"/>
              </a:rPr>
              <a:t>undo</a:t>
            </a:r>
            <a:r>
              <a:rPr lang="es-ES" sz="2400" b="1" dirty="0">
                <a:latin typeface="Arial" panose="020B0604020202020204" pitchFamily="34" charset="0"/>
                <a:cs typeface="Arial" panose="020B0604020202020204" pitchFamily="34" charset="0"/>
              </a:rPr>
              <a:t>/redo)</a:t>
            </a:r>
            <a:r>
              <a:rPr lang="es-ES" sz="2400" dirty="0">
                <a:latin typeface="Arial" panose="020B0604020202020204" pitchFamily="34" charset="0"/>
                <a:cs typeface="Arial" panose="020B0604020202020204" pitchFamily="34" charset="0"/>
              </a:rPr>
              <a:t>. </a:t>
            </a:r>
          </a:p>
          <a:p>
            <a:pPr marL="342900" indent="-342900">
              <a:buClr>
                <a:srgbClr val="FF0000"/>
              </a:buClr>
              <a:buFont typeface="Arial" panose="020B0604020202020204" pitchFamily="34" charset="0"/>
              <a:buChar char="X"/>
            </a:pPr>
            <a:r>
              <a:rPr lang="es-ES" sz="2400" dirty="0">
                <a:latin typeface="Arial" panose="020B0604020202020204" pitchFamily="34" charset="0"/>
                <a:cs typeface="Arial" panose="020B0604020202020204" pitchFamily="34" charset="0"/>
              </a:rPr>
              <a:t>Difícil reutilización y mantenimiento.</a:t>
            </a:r>
          </a:p>
          <a:p>
            <a:endParaRPr lang="es-CO" dirty="0"/>
          </a:p>
        </p:txBody>
      </p:sp>
      <p:sp>
        <p:nvSpPr>
          <p:cNvPr id="23" name="CuadroTexto 22">
            <a:extLst>
              <a:ext uri="{FF2B5EF4-FFF2-40B4-BE49-F238E27FC236}">
                <a16:creationId xmlns:a16="http://schemas.microsoft.com/office/drawing/2014/main" id="{AD570129-A39E-DE0C-738A-299AF8B4B10C}"/>
              </a:ext>
            </a:extLst>
          </p:cNvPr>
          <p:cNvSpPr txBox="1"/>
          <p:nvPr/>
        </p:nvSpPr>
        <p:spPr>
          <a:xfrm>
            <a:off x="11391900" y="6775967"/>
            <a:ext cx="6781800" cy="1908215"/>
          </a:xfrm>
          <a:prstGeom prst="rect">
            <a:avLst/>
          </a:prstGeom>
          <a:noFill/>
        </p:spPr>
        <p:txBody>
          <a:bodyPr wrap="square" rtlCol="0">
            <a:spAutoFit/>
          </a:bodyPr>
          <a:lstStyle/>
          <a:p>
            <a:r>
              <a:rPr lang="es-ES" sz="2800" b="1" dirty="0">
                <a:latin typeface="Arial" panose="020B0604020202020204" pitchFamily="34" charset="0"/>
                <a:cs typeface="Arial" panose="020B0604020202020204" pitchFamily="34" charset="0"/>
              </a:rPr>
              <a:t>Problema de diseño que resuelve:</a:t>
            </a:r>
          </a:p>
          <a:p>
            <a:r>
              <a:rPr lang="es-ES" sz="2400" dirty="0">
                <a:latin typeface="Arial" panose="020B0604020202020204" pitchFamily="34" charset="0"/>
                <a:cs typeface="Arial" panose="020B0604020202020204" pitchFamily="34" charset="0"/>
              </a:rPr>
              <a:t>El patrón </a:t>
            </a:r>
            <a:r>
              <a:rPr lang="es-ES" sz="2400" b="1" dirty="0">
                <a:latin typeface="Arial" panose="020B0604020202020204" pitchFamily="34" charset="0"/>
                <a:cs typeface="Arial" panose="020B0604020202020204" pitchFamily="34" charset="0"/>
              </a:rPr>
              <a:t>desacopla</a:t>
            </a:r>
            <a:r>
              <a:rPr lang="es-ES" sz="2400" dirty="0">
                <a:latin typeface="Arial" panose="020B0604020202020204" pitchFamily="34" charset="0"/>
                <a:cs typeface="Arial" panose="020B0604020202020204" pitchFamily="34" charset="0"/>
              </a:rPr>
              <a:t> el objeto que solicita una acción del objeto que la ejecuta, encapsulando la operación dentro de un objeto comando.</a:t>
            </a:r>
          </a:p>
          <a:p>
            <a:endParaRPr lang="es-CO"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1B093C-D8D6-3EE2-4B33-7454357873BE}"/>
              </a:ext>
            </a:extLst>
          </p:cNvPr>
          <p:cNvSpPr>
            <a:spLocks noGrp="1"/>
          </p:cNvSpPr>
          <p:nvPr>
            <p:ph type="title"/>
          </p:nvPr>
        </p:nvSpPr>
        <p:spPr>
          <a:xfrm>
            <a:off x="4572000" y="571500"/>
            <a:ext cx="8228111" cy="762000"/>
          </a:xfrm>
        </p:spPr>
        <p:txBody>
          <a:bodyPr/>
          <a:lstStyle/>
          <a:p>
            <a:r>
              <a:rPr lang="es-CO" spc="-240" dirty="0"/>
              <a:t>INTENCIÓN</a:t>
            </a:r>
            <a:r>
              <a:rPr lang="es-CO" spc="-355" dirty="0"/>
              <a:t> </a:t>
            </a:r>
            <a:r>
              <a:rPr lang="es-CO" spc="-245" dirty="0"/>
              <a:t>DEL</a:t>
            </a:r>
            <a:r>
              <a:rPr lang="es-CO" spc="-350" dirty="0"/>
              <a:t> </a:t>
            </a:r>
            <a:r>
              <a:rPr lang="es-CO" spc="-80" dirty="0"/>
              <a:t>PATRON</a:t>
            </a:r>
            <a:endParaRPr lang="es-CO" dirty="0"/>
          </a:p>
        </p:txBody>
      </p:sp>
      <p:sp>
        <p:nvSpPr>
          <p:cNvPr id="3" name="Marcador de texto 2">
            <a:extLst>
              <a:ext uri="{FF2B5EF4-FFF2-40B4-BE49-F238E27FC236}">
                <a16:creationId xmlns:a16="http://schemas.microsoft.com/office/drawing/2014/main" id="{FAE78938-274D-C78F-D862-B460B617A1DC}"/>
              </a:ext>
            </a:extLst>
          </p:cNvPr>
          <p:cNvSpPr>
            <a:spLocks noGrp="1"/>
          </p:cNvSpPr>
          <p:nvPr>
            <p:ph type="body" idx="1"/>
          </p:nvPr>
        </p:nvSpPr>
        <p:spPr>
          <a:xfrm>
            <a:off x="685800" y="2476500"/>
            <a:ext cx="8991600" cy="4308872"/>
          </a:xfrm>
        </p:spPr>
        <p:txBody>
          <a:bodyPr/>
          <a:lstStyle/>
          <a:p>
            <a:pPr algn="ctr"/>
            <a:r>
              <a:rPr lang="es-ES" sz="4000" b="1" dirty="0">
                <a:latin typeface="Arial" panose="020B0604020202020204" pitchFamily="34" charset="0"/>
                <a:cs typeface="Arial" panose="020B0604020202020204" pitchFamily="34" charset="0"/>
              </a:rPr>
              <a:t>“Encapsular</a:t>
            </a:r>
            <a:r>
              <a:rPr lang="es-ES" sz="4000" dirty="0">
                <a:latin typeface="Arial" panose="020B0604020202020204" pitchFamily="34" charset="0"/>
                <a:cs typeface="Arial" panose="020B0604020202020204" pitchFamily="34" charset="0"/>
              </a:rPr>
              <a:t> una solicitud como un objeto, permitiendo </a:t>
            </a:r>
            <a:r>
              <a:rPr lang="es-ES" sz="4000" b="1" dirty="0">
                <a:latin typeface="Arial" panose="020B0604020202020204" pitchFamily="34" charset="0"/>
                <a:cs typeface="Arial" panose="020B0604020202020204" pitchFamily="34" charset="0"/>
              </a:rPr>
              <a:t>parametrizar</a:t>
            </a:r>
            <a:r>
              <a:rPr lang="es-ES" sz="4000" dirty="0">
                <a:latin typeface="Arial" panose="020B0604020202020204" pitchFamily="34" charset="0"/>
                <a:cs typeface="Arial" panose="020B0604020202020204" pitchFamily="34" charset="0"/>
              </a:rPr>
              <a:t> clientes con diferentes peticiones, </a:t>
            </a:r>
            <a:r>
              <a:rPr lang="es-ES" sz="4000" b="1" dirty="0">
                <a:latin typeface="Arial" panose="020B0604020202020204" pitchFamily="34" charset="0"/>
                <a:cs typeface="Arial" panose="020B0604020202020204" pitchFamily="34" charset="0"/>
              </a:rPr>
              <a:t>almacenar</a:t>
            </a:r>
            <a:r>
              <a:rPr lang="es-ES" sz="4000" dirty="0">
                <a:latin typeface="Arial" panose="020B0604020202020204" pitchFamily="34" charset="0"/>
                <a:cs typeface="Arial" panose="020B0604020202020204" pitchFamily="34" charset="0"/>
              </a:rPr>
              <a:t> solicitudes, </a:t>
            </a:r>
            <a:r>
              <a:rPr lang="es-ES" sz="4000" b="1" dirty="0">
                <a:latin typeface="Arial" panose="020B0604020202020204" pitchFamily="34" charset="0"/>
                <a:cs typeface="Arial" panose="020B0604020202020204" pitchFamily="34" charset="0"/>
              </a:rPr>
              <a:t>ejecutar</a:t>
            </a:r>
            <a:r>
              <a:rPr lang="es-ES" sz="4000" dirty="0">
                <a:latin typeface="Arial" panose="020B0604020202020204" pitchFamily="34" charset="0"/>
                <a:cs typeface="Arial" panose="020B0604020202020204" pitchFamily="34" charset="0"/>
              </a:rPr>
              <a:t> operaciones posteriormente y </a:t>
            </a:r>
            <a:r>
              <a:rPr lang="es-ES" sz="4000" b="1" dirty="0">
                <a:latin typeface="Arial" panose="020B0604020202020204" pitchFamily="34" charset="0"/>
                <a:cs typeface="Arial" panose="020B0604020202020204" pitchFamily="34" charset="0"/>
              </a:rPr>
              <a:t>soportar</a:t>
            </a:r>
            <a:r>
              <a:rPr lang="es-ES" sz="4000" dirty="0">
                <a:latin typeface="Arial" panose="020B0604020202020204" pitchFamily="34" charset="0"/>
                <a:cs typeface="Arial" panose="020B0604020202020204" pitchFamily="34" charset="0"/>
              </a:rPr>
              <a:t> funcionalidades como deshacer (</a:t>
            </a:r>
            <a:r>
              <a:rPr lang="es-ES" sz="4000" dirty="0" err="1">
                <a:latin typeface="Arial" panose="020B0604020202020204" pitchFamily="34" charset="0"/>
                <a:cs typeface="Arial" panose="020B0604020202020204" pitchFamily="34" charset="0"/>
              </a:rPr>
              <a:t>undo</a:t>
            </a:r>
            <a:r>
              <a:rPr lang="es-ES" sz="4000" dirty="0">
                <a:latin typeface="Arial" panose="020B0604020202020204" pitchFamily="34" charset="0"/>
                <a:cs typeface="Arial" panose="020B0604020202020204" pitchFamily="34" charset="0"/>
              </a:rPr>
              <a:t>).</a:t>
            </a:r>
            <a:r>
              <a:rPr lang="es-ES" sz="4000" b="1" dirty="0">
                <a:latin typeface="Arial" panose="020B0604020202020204" pitchFamily="34" charset="0"/>
                <a:cs typeface="Arial" panose="020B0604020202020204" pitchFamily="34" charset="0"/>
              </a:rPr>
              <a:t>”</a:t>
            </a:r>
          </a:p>
        </p:txBody>
      </p:sp>
      <p:pic>
        <p:nvPicPr>
          <p:cNvPr id="7" name="Imagen 6">
            <a:extLst>
              <a:ext uri="{FF2B5EF4-FFF2-40B4-BE49-F238E27FC236}">
                <a16:creationId xmlns:a16="http://schemas.microsoft.com/office/drawing/2014/main" id="{0ECCE244-9733-0FFE-8C2B-57A41B020C81}"/>
              </a:ext>
            </a:extLst>
          </p:cNvPr>
          <p:cNvPicPr>
            <a:picLocks noChangeAspect="1"/>
          </p:cNvPicPr>
          <p:nvPr/>
        </p:nvPicPr>
        <p:blipFill>
          <a:blip r:embed="rId2"/>
          <a:stretch>
            <a:fillRect/>
          </a:stretch>
        </p:blipFill>
        <p:spPr>
          <a:xfrm>
            <a:off x="10439400" y="3619500"/>
            <a:ext cx="6781055" cy="3390528"/>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4282103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p:nvPr/>
        </p:nvSpPr>
        <p:spPr>
          <a:xfrm>
            <a:off x="1524000" y="1638300"/>
            <a:ext cx="7735040" cy="1946046"/>
          </a:xfrm>
          <a:prstGeom prst="rect">
            <a:avLst/>
          </a:prstGeom>
        </p:spPr>
        <p:txBody>
          <a:bodyPr vert="horz" wrap="square" lIns="0" tIns="98425" rIns="0" bIns="0" rtlCol="0">
            <a:spAutoFit/>
          </a:bodyPr>
          <a:lstStyle/>
          <a:p>
            <a:pPr marL="12700">
              <a:lnSpc>
                <a:spcPct val="100000"/>
              </a:lnSpc>
              <a:spcBef>
                <a:spcPts val="775"/>
              </a:spcBef>
            </a:pPr>
            <a:r>
              <a:rPr sz="2000" b="1" dirty="0">
                <a:latin typeface="Arial" panose="020B0604020202020204" pitchFamily="34" charset="0"/>
                <a:cs typeface="Arial" panose="020B0604020202020204" pitchFamily="34" charset="0"/>
              </a:rPr>
              <a:t>Se</a:t>
            </a:r>
            <a:r>
              <a:rPr sz="2000" b="1" spc="-170" dirty="0">
                <a:latin typeface="Arial" panose="020B0604020202020204" pitchFamily="34" charset="0"/>
                <a:cs typeface="Arial" panose="020B0604020202020204" pitchFamily="34" charset="0"/>
              </a:rPr>
              <a:t> </a:t>
            </a:r>
            <a:r>
              <a:rPr sz="2000" b="1" spc="140" dirty="0">
                <a:latin typeface="Arial" panose="020B0604020202020204" pitchFamily="34" charset="0"/>
                <a:cs typeface="Arial" panose="020B0604020202020204" pitchFamily="34" charset="0"/>
              </a:rPr>
              <a:t>recomienda</a:t>
            </a:r>
            <a:r>
              <a:rPr sz="2000" b="1" spc="-165" dirty="0">
                <a:latin typeface="Arial" panose="020B0604020202020204" pitchFamily="34" charset="0"/>
                <a:cs typeface="Arial" panose="020B0604020202020204" pitchFamily="34" charset="0"/>
              </a:rPr>
              <a:t> </a:t>
            </a:r>
            <a:r>
              <a:rPr sz="2000" b="1" spc="90" dirty="0">
                <a:latin typeface="Arial" panose="020B0604020202020204" pitchFamily="34" charset="0"/>
                <a:cs typeface="Arial" panose="020B0604020202020204" pitchFamily="34" charset="0"/>
              </a:rPr>
              <a:t>utilizar</a:t>
            </a:r>
            <a:r>
              <a:rPr sz="2000" b="1" spc="-165" dirty="0">
                <a:latin typeface="Arial" panose="020B0604020202020204" pitchFamily="34" charset="0"/>
                <a:cs typeface="Arial" panose="020B0604020202020204" pitchFamily="34" charset="0"/>
              </a:rPr>
              <a:t> </a:t>
            </a:r>
            <a:r>
              <a:rPr sz="2000" b="1" spc="85" dirty="0">
                <a:latin typeface="Arial" panose="020B0604020202020204" pitchFamily="34" charset="0"/>
                <a:cs typeface="Arial" panose="020B0604020202020204" pitchFamily="34" charset="0"/>
              </a:rPr>
              <a:t>este</a:t>
            </a:r>
            <a:r>
              <a:rPr sz="2000" b="1" spc="-165" dirty="0">
                <a:latin typeface="Arial" panose="020B0604020202020204" pitchFamily="34" charset="0"/>
                <a:cs typeface="Arial" panose="020B0604020202020204" pitchFamily="34" charset="0"/>
              </a:rPr>
              <a:t> </a:t>
            </a:r>
            <a:r>
              <a:rPr sz="2000" b="1" spc="140" dirty="0">
                <a:latin typeface="Arial" panose="020B0604020202020204" pitchFamily="34" charset="0"/>
                <a:cs typeface="Arial" panose="020B0604020202020204" pitchFamily="34" charset="0"/>
              </a:rPr>
              <a:t>patrón</a:t>
            </a:r>
            <a:r>
              <a:rPr sz="2000" b="1" spc="-165" dirty="0">
                <a:latin typeface="Arial" panose="020B0604020202020204" pitchFamily="34" charset="0"/>
                <a:cs typeface="Arial" panose="020B0604020202020204" pitchFamily="34" charset="0"/>
              </a:rPr>
              <a:t> </a:t>
            </a:r>
            <a:r>
              <a:rPr sz="2000" b="1" spc="65" dirty="0" err="1">
                <a:latin typeface="Arial" panose="020B0604020202020204" pitchFamily="34" charset="0"/>
                <a:cs typeface="Arial" panose="020B0604020202020204" pitchFamily="34" charset="0"/>
              </a:rPr>
              <a:t>cuando</a:t>
            </a:r>
            <a:r>
              <a:rPr sz="2000" b="1" spc="65" dirty="0">
                <a:latin typeface="Arial" panose="020B0604020202020204" pitchFamily="34" charset="0"/>
                <a:cs typeface="Arial" panose="020B0604020202020204" pitchFamily="34" charset="0"/>
              </a:rPr>
              <a:t>:</a:t>
            </a:r>
            <a:br>
              <a:rPr lang="es-ES" sz="2000" spc="65" dirty="0">
                <a:latin typeface="Arial" panose="020B0604020202020204" pitchFamily="34" charset="0"/>
                <a:cs typeface="Arial" panose="020B0604020202020204" pitchFamily="34" charset="0"/>
              </a:rPr>
            </a:br>
            <a:r>
              <a:rPr lang="es-ES" sz="2000" dirty="0">
                <a:latin typeface="Arial" panose="020B0604020202020204" pitchFamily="34" charset="0"/>
                <a:cs typeface="Arial" panose="020B0604020202020204" pitchFamily="34" charset="0"/>
              </a:rPr>
              <a:t>✅ Desacoplar el objeto que solicita una acción del que la ejecuta.</a:t>
            </a:r>
            <a:br>
              <a:rPr lang="es-ES" sz="2000" dirty="0">
                <a:latin typeface="Arial" panose="020B0604020202020204" pitchFamily="34" charset="0"/>
                <a:cs typeface="Arial" panose="020B0604020202020204" pitchFamily="34" charset="0"/>
              </a:rPr>
            </a:br>
            <a:r>
              <a:rPr lang="es-ES" sz="2000" dirty="0">
                <a:latin typeface="Arial" panose="020B0604020202020204" pitchFamily="34" charset="0"/>
                <a:cs typeface="Arial" panose="020B0604020202020204" pitchFamily="34" charset="0"/>
              </a:rPr>
              <a:t>✅ Manejar múltiples acciones de forma flexible.</a:t>
            </a:r>
            <a:br>
              <a:rPr lang="es-ES" sz="2000" dirty="0">
                <a:latin typeface="Arial" panose="020B0604020202020204" pitchFamily="34" charset="0"/>
                <a:cs typeface="Arial" panose="020B0604020202020204" pitchFamily="34" charset="0"/>
              </a:rPr>
            </a:br>
            <a:r>
              <a:rPr lang="es-ES" sz="2000" dirty="0">
                <a:latin typeface="Arial" panose="020B0604020202020204" pitchFamily="34" charset="0"/>
                <a:cs typeface="Arial" panose="020B0604020202020204" pitchFamily="34" charset="0"/>
              </a:rPr>
              <a:t>✅ Implementar </a:t>
            </a:r>
            <a:r>
              <a:rPr lang="es-ES" sz="2000" b="1" dirty="0">
                <a:latin typeface="Arial" panose="020B0604020202020204" pitchFamily="34" charset="0"/>
                <a:cs typeface="Arial" panose="020B0604020202020204" pitchFamily="34" charset="0"/>
              </a:rPr>
              <a:t>deshacer/rehacer (</a:t>
            </a:r>
            <a:r>
              <a:rPr lang="es-ES" sz="2000" b="1" dirty="0" err="1">
                <a:latin typeface="Arial" panose="020B0604020202020204" pitchFamily="34" charset="0"/>
                <a:cs typeface="Arial" panose="020B0604020202020204" pitchFamily="34" charset="0"/>
              </a:rPr>
              <a:t>undo</a:t>
            </a:r>
            <a:r>
              <a:rPr lang="es-ES" sz="2000" b="1" dirty="0">
                <a:latin typeface="Arial" panose="020B0604020202020204" pitchFamily="34" charset="0"/>
                <a:cs typeface="Arial" panose="020B0604020202020204" pitchFamily="34" charset="0"/>
              </a:rPr>
              <a:t>/redo)</a:t>
            </a:r>
            <a:r>
              <a:rPr lang="es-ES" sz="2000" dirty="0">
                <a:latin typeface="Arial" panose="020B0604020202020204" pitchFamily="34" charset="0"/>
                <a:cs typeface="Arial" panose="020B0604020202020204" pitchFamily="34" charset="0"/>
              </a:rPr>
              <a:t>.</a:t>
            </a:r>
            <a:br>
              <a:rPr lang="es-ES" sz="2000" dirty="0">
                <a:latin typeface="Arial" panose="020B0604020202020204" pitchFamily="34" charset="0"/>
                <a:cs typeface="Arial" panose="020B0604020202020204" pitchFamily="34" charset="0"/>
              </a:rPr>
            </a:br>
            <a:r>
              <a:rPr lang="es-ES" sz="2000" dirty="0">
                <a:latin typeface="Arial" panose="020B0604020202020204" pitchFamily="34" charset="0"/>
                <a:cs typeface="Arial" panose="020B0604020202020204" pitchFamily="34" charset="0"/>
              </a:rPr>
              <a:t>✅ Programar, almacenar o ejecutar tareas posteriormente.</a:t>
            </a:r>
            <a:br>
              <a:rPr lang="es-ES" sz="2000" dirty="0">
                <a:latin typeface="Arial" panose="020B0604020202020204" pitchFamily="34" charset="0"/>
                <a:cs typeface="Arial" panose="020B0604020202020204" pitchFamily="34" charset="0"/>
              </a:rPr>
            </a:br>
            <a:r>
              <a:rPr lang="es-ES" sz="2000" dirty="0">
                <a:latin typeface="Arial" panose="020B0604020202020204" pitchFamily="34" charset="0"/>
                <a:cs typeface="Arial" panose="020B0604020202020204" pitchFamily="34" charset="0"/>
              </a:rPr>
              <a:t>✅ Implementar colas de tareas o historial de operaciones.</a:t>
            </a:r>
            <a:endParaRPr lang="es-ES" sz="2000" spc="65" dirty="0">
              <a:latin typeface="Arial" panose="020B0604020202020204" pitchFamily="34" charset="0"/>
              <a:cs typeface="Arial" panose="020B0604020202020204" pitchFamily="34" charset="0"/>
            </a:endParaRPr>
          </a:p>
        </p:txBody>
      </p:sp>
      <p:sp>
        <p:nvSpPr>
          <p:cNvPr id="8" name="object 8" descr="$PPTXTitle"/>
          <p:cNvSpPr txBox="1">
            <a:spLocks noGrp="1"/>
          </p:cNvSpPr>
          <p:nvPr>
            <p:ph type="title"/>
          </p:nvPr>
        </p:nvSpPr>
        <p:spPr>
          <a:xfrm>
            <a:off x="5791200" y="342900"/>
            <a:ext cx="8636539" cy="1028487"/>
          </a:xfrm>
          <a:prstGeom prst="rect">
            <a:avLst/>
          </a:prstGeom>
        </p:spPr>
        <p:txBody>
          <a:bodyPr vert="horz" wrap="square" lIns="0" tIns="12700" rIns="0" bIns="0" rtlCol="0">
            <a:spAutoFit/>
          </a:bodyPr>
          <a:lstStyle/>
          <a:p>
            <a:pPr marL="12700">
              <a:lnSpc>
                <a:spcPct val="100000"/>
              </a:lnSpc>
              <a:spcBef>
                <a:spcPts val="100"/>
              </a:spcBef>
            </a:pPr>
            <a:r>
              <a:rPr lang="es-ES" sz="6600" spc="-330" dirty="0"/>
              <a:t>CONTEXTO DE USO</a:t>
            </a:r>
            <a:endParaRPr sz="6600" spc="-105" dirty="0"/>
          </a:p>
        </p:txBody>
      </p:sp>
      <p:sp>
        <p:nvSpPr>
          <p:cNvPr id="9" name="object 7">
            <a:extLst>
              <a:ext uri="{FF2B5EF4-FFF2-40B4-BE49-F238E27FC236}">
                <a16:creationId xmlns:a16="http://schemas.microsoft.com/office/drawing/2014/main" id="{E348506E-FF8A-0838-4594-5F75167F84BD}"/>
              </a:ext>
            </a:extLst>
          </p:cNvPr>
          <p:cNvSpPr txBox="1"/>
          <p:nvPr/>
        </p:nvSpPr>
        <p:spPr>
          <a:xfrm>
            <a:off x="10287000" y="4119180"/>
            <a:ext cx="6934200" cy="2048638"/>
          </a:xfrm>
          <a:prstGeom prst="rect">
            <a:avLst/>
          </a:prstGeom>
        </p:spPr>
        <p:txBody>
          <a:bodyPr vert="horz" wrap="square" lIns="0" tIns="98425" rIns="0" bIns="0" rtlCol="0">
            <a:spAutoFit/>
          </a:bodyPr>
          <a:lstStyle/>
          <a:p>
            <a:pPr marL="12700">
              <a:lnSpc>
                <a:spcPct val="100000"/>
              </a:lnSpc>
              <a:spcBef>
                <a:spcPts val="775"/>
              </a:spcBef>
            </a:pPr>
            <a:r>
              <a:rPr lang="es-ES" sz="2000" b="1" dirty="0">
                <a:latin typeface="Arial" panose="020B0604020202020204" pitchFamily="34" charset="0"/>
                <a:cs typeface="Arial" panose="020B0604020202020204" pitchFamily="34" charset="0"/>
              </a:rPr>
              <a:t>Señales de que el </a:t>
            </a:r>
            <a:r>
              <a:rPr lang="es-ES" sz="2000" b="1" dirty="0" err="1">
                <a:latin typeface="Arial" panose="020B0604020202020204" pitchFamily="34" charset="0"/>
                <a:cs typeface="Arial" panose="020B0604020202020204" pitchFamily="34" charset="0"/>
              </a:rPr>
              <a:t>patron</a:t>
            </a:r>
            <a:r>
              <a:rPr lang="es-ES" sz="2000" b="1" dirty="0">
                <a:latin typeface="Arial" panose="020B0604020202020204" pitchFamily="34" charset="0"/>
                <a:cs typeface="Arial" panose="020B0604020202020204" pitchFamily="34" charset="0"/>
              </a:rPr>
              <a:t> puede ser útil:</a:t>
            </a:r>
          </a:p>
          <a:p>
            <a:pPr marL="355600" indent="-342900">
              <a:lnSpc>
                <a:spcPct val="100000"/>
              </a:lnSpc>
              <a:spcBef>
                <a:spcPts val="775"/>
              </a:spcBef>
              <a:buFont typeface="Wingdings" panose="05000000000000000000" pitchFamily="2" charset="2"/>
              <a:buChar char="Ø"/>
            </a:pPr>
            <a:r>
              <a:rPr lang="es-ES" sz="2000" dirty="0"/>
              <a:t>Existen muchos </a:t>
            </a:r>
            <a:r>
              <a:rPr lang="es-ES" sz="2000" dirty="0" err="1"/>
              <a:t>if-else</a:t>
            </a:r>
            <a:r>
              <a:rPr lang="es-ES" sz="2000" dirty="0"/>
              <a:t> o switch para ejecutar acciones. </a:t>
            </a:r>
          </a:p>
          <a:p>
            <a:pPr marL="355600" indent="-342900">
              <a:lnSpc>
                <a:spcPct val="100000"/>
              </a:lnSpc>
              <a:spcBef>
                <a:spcPts val="775"/>
              </a:spcBef>
              <a:buFont typeface="Wingdings" panose="05000000000000000000" pitchFamily="2" charset="2"/>
              <a:buChar char="Ø"/>
            </a:pPr>
            <a:r>
              <a:rPr lang="es-ES" sz="2000" dirty="0"/>
              <a:t>Una clase conoce demasiadas operaciones concretas. </a:t>
            </a:r>
          </a:p>
          <a:p>
            <a:pPr marL="355600" indent="-342900">
              <a:lnSpc>
                <a:spcPct val="100000"/>
              </a:lnSpc>
              <a:spcBef>
                <a:spcPts val="775"/>
              </a:spcBef>
              <a:buFont typeface="Wingdings" panose="05000000000000000000" pitchFamily="2" charset="2"/>
              <a:buChar char="Ø"/>
            </a:pPr>
            <a:r>
              <a:rPr lang="es-ES" sz="2000" dirty="0"/>
              <a:t>Se agregan nuevas funcionalidades constantemente.  </a:t>
            </a:r>
          </a:p>
          <a:p>
            <a:pPr marL="355600" indent="-342900">
              <a:lnSpc>
                <a:spcPct val="100000"/>
              </a:lnSpc>
              <a:spcBef>
                <a:spcPts val="775"/>
              </a:spcBef>
              <a:buFont typeface="Wingdings" panose="05000000000000000000" pitchFamily="2" charset="2"/>
              <a:buChar char="Ø"/>
            </a:pPr>
            <a:r>
              <a:rPr lang="es-ES" sz="2000" dirty="0"/>
              <a:t>Se requiere reutilizar acciones.</a:t>
            </a:r>
            <a:endParaRPr lang="es-ES" sz="2000" spc="65" dirty="0">
              <a:latin typeface="Arial" panose="020B0604020202020204" pitchFamily="34" charset="0"/>
              <a:cs typeface="Arial" panose="020B0604020202020204" pitchFamily="34" charset="0"/>
            </a:endParaRPr>
          </a:p>
        </p:txBody>
      </p:sp>
      <p:pic>
        <p:nvPicPr>
          <p:cNvPr id="10" name="Imagen 9" descr="Vector de icono recomendado Sello de roseta de recomendación en blanco y  negro | Vector Premium">
            <a:extLst>
              <a:ext uri="{FF2B5EF4-FFF2-40B4-BE49-F238E27FC236}">
                <a16:creationId xmlns:a16="http://schemas.microsoft.com/office/drawing/2014/main" id="{F82A7356-BAF9-3AE7-63FA-517DC050C1ED}"/>
              </a:ext>
            </a:extLst>
          </p:cNvPr>
          <p:cNvPicPr>
            <a:picLocks noChangeAspect="1"/>
          </p:cNvPicPr>
          <p:nvPr/>
        </p:nvPicPr>
        <p:blipFill>
          <a:blip r:embed="rId2"/>
          <a:stretch>
            <a:fillRect/>
          </a:stretch>
        </p:blipFill>
        <p:spPr>
          <a:xfrm>
            <a:off x="11214369" y="1545996"/>
            <a:ext cx="2247900" cy="2038350"/>
          </a:xfrm>
          <a:prstGeom prst="rect">
            <a:avLst/>
          </a:prstGeom>
        </p:spPr>
      </p:pic>
      <p:pic>
        <p:nvPicPr>
          <p:cNvPr id="11" name="Imagen 10" descr="Sentirse útil y productivo: algunas ideas para organizar el tiempo de  trabajo - Blog Yunbit Software">
            <a:extLst>
              <a:ext uri="{FF2B5EF4-FFF2-40B4-BE49-F238E27FC236}">
                <a16:creationId xmlns:a16="http://schemas.microsoft.com/office/drawing/2014/main" id="{54672B61-54C0-B1A2-ACB1-04613000A41A}"/>
              </a:ext>
            </a:extLst>
          </p:cNvPr>
          <p:cNvPicPr>
            <a:picLocks noChangeAspect="1"/>
          </p:cNvPicPr>
          <p:nvPr/>
        </p:nvPicPr>
        <p:blipFill>
          <a:blip r:embed="rId3"/>
          <a:stretch>
            <a:fillRect/>
          </a:stretch>
        </p:blipFill>
        <p:spPr>
          <a:xfrm>
            <a:off x="2362200" y="3860978"/>
            <a:ext cx="3848939" cy="256504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2" name="object 7">
            <a:extLst>
              <a:ext uri="{FF2B5EF4-FFF2-40B4-BE49-F238E27FC236}">
                <a16:creationId xmlns:a16="http://schemas.microsoft.com/office/drawing/2014/main" id="{4CE3AD9C-D664-1694-9E27-2297DDFA5B6B}"/>
              </a:ext>
            </a:extLst>
          </p:cNvPr>
          <p:cNvSpPr txBox="1"/>
          <p:nvPr/>
        </p:nvSpPr>
        <p:spPr>
          <a:xfrm>
            <a:off x="1524000" y="7124700"/>
            <a:ext cx="6934200" cy="2459006"/>
          </a:xfrm>
          <a:prstGeom prst="rect">
            <a:avLst/>
          </a:prstGeom>
        </p:spPr>
        <p:txBody>
          <a:bodyPr vert="horz" wrap="square" lIns="0" tIns="98425" rIns="0" bIns="0" rtlCol="0">
            <a:spAutoFit/>
          </a:bodyPr>
          <a:lstStyle/>
          <a:p>
            <a:r>
              <a:rPr lang="es-ES" sz="2000" b="1" dirty="0">
                <a:latin typeface="Arial" panose="020B0604020202020204" pitchFamily="34" charset="0"/>
                <a:cs typeface="Arial" panose="020B0604020202020204" pitchFamily="34" charset="0"/>
              </a:rPr>
              <a:t>Tipos de aplicaciones donde aparece</a:t>
            </a:r>
          </a:p>
          <a:p>
            <a:pPr marL="355600" indent="-342900">
              <a:lnSpc>
                <a:spcPct val="100000"/>
              </a:lnSpc>
              <a:spcBef>
                <a:spcPts val="775"/>
              </a:spcBef>
              <a:buFont typeface="Wingdings" panose="05000000000000000000" pitchFamily="2" charset="2"/>
              <a:buChar char="q"/>
            </a:pPr>
            <a:r>
              <a:rPr lang="es-ES" sz="2000" dirty="0"/>
              <a:t>Interfaces gráficas (botones y menús) </a:t>
            </a:r>
          </a:p>
          <a:p>
            <a:pPr marL="355600" indent="-342900">
              <a:lnSpc>
                <a:spcPct val="100000"/>
              </a:lnSpc>
              <a:spcBef>
                <a:spcPts val="775"/>
              </a:spcBef>
              <a:buFont typeface="Wingdings" panose="05000000000000000000" pitchFamily="2" charset="2"/>
              <a:buChar char="q"/>
            </a:pPr>
            <a:r>
              <a:rPr lang="es-ES" sz="2000" dirty="0"/>
              <a:t>Editores de texto o imágenes </a:t>
            </a:r>
          </a:p>
          <a:p>
            <a:pPr marL="355600" indent="-342900">
              <a:lnSpc>
                <a:spcPct val="100000"/>
              </a:lnSpc>
              <a:spcBef>
                <a:spcPts val="775"/>
              </a:spcBef>
              <a:buFont typeface="Wingdings" panose="05000000000000000000" pitchFamily="2" charset="2"/>
              <a:buChar char="q"/>
            </a:pPr>
            <a:r>
              <a:rPr lang="es-ES" sz="2000" dirty="0"/>
              <a:t>Videojuegos </a:t>
            </a:r>
          </a:p>
          <a:p>
            <a:pPr marL="355600" indent="-342900">
              <a:lnSpc>
                <a:spcPct val="100000"/>
              </a:lnSpc>
              <a:spcBef>
                <a:spcPts val="775"/>
              </a:spcBef>
              <a:buFont typeface="Wingdings" panose="05000000000000000000" pitchFamily="2" charset="2"/>
              <a:buChar char="q"/>
            </a:pPr>
            <a:r>
              <a:rPr lang="es-ES" sz="2000" dirty="0"/>
              <a:t>Automatización y domótica </a:t>
            </a:r>
          </a:p>
          <a:p>
            <a:pPr marL="355600" indent="-342900">
              <a:lnSpc>
                <a:spcPct val="100000"/>
              </a:lnSpc>
              <a:spcBef>
                <a:spcPts val="775"/>
              </a:spcBef>
              <a:buFont typeface="Wingdings" panose="05000000000000000000" pitchFamily="2" charset="2"/>
              <a:buChar char="q"/>
            </a:pPr>
            <a:r>
              <a:rPr lang="es-ES" sz="2000" dirty="0"/>
              <a:t>Sistemas de transacciones y tareas programadas</a:t>
            </a:r>
            <a:endParaRPr lang="es-ES" sz="2000" spc="65" dirty="0">
              <a:latin typeface="Arial" panose="020B0604020202020204" pitchFamily="34" charset="0"/>
              <a:cs typeface="Arial" panose="020B0604020202020204" pitchFamily="34" charset="0"/>
            </a:endParaRPr>
          </a:p>
        </p:txBody>
      </p:sp>
      <p:pic>
        <p:nvPicPr>
          <p:cNvPr id="15" name="Imagen 14" descr="▷ ¿Qué es Interfaz grafica de usuario y para qué sirve? 🥇【Diccionario】">
            <a:extLst>
              <a:ext uri="{FF2B5EF4-FFF2-40B4-BE49-F238E27FC236}">
                <a16:creationId xmlns:a16="http://schemas.microsoft.com/office/drawing/2014/main" id="{784BEA14-DB79-ADFB-878B-3E85F15D0C5B}"/>
              </a:ext>
            </a:extLst>
          </p:cNvPr>
          <p:cNvPicPr>
            <a:picLocks noChangeAspect="1"/>
          </p:cNvPicPr>
          <p:nvPr/>
        </p:nvPicPr>
        <p:blipFill>
          <a:blip r:embed="rId4"/>
          <a:stretch>
            <a:fillRect/>
          </a:stretch>
        </p:blipFill>
        <p:spPr>
          <a:xfrm>
            <a:off x="7126401" y="6398653"/>
            <a:ext cx="4330702" cy="2598421"/>
          </a:xfrm>
          <a:prstGeom prst="rect">
            <a:avLst/>
          </a:prstGeom>
          <a:ln>
            <a:noFill/>
          </a:ln>
          <a:effectLst>
            <a:softEdge rad="112500"/>
          </a:effectLst>
        </p:spPr>
      </p:pic>
      <p:pic>
        <p:nvPicPr>
          <p:cNvPr id="16" name="Imagen 15" descr="Acceso a la capa de lógica de negocio a través de un comando.">
            <a:extLst>
              <a:ext uri="{FF2B5EF4-FFF2-40B4-BE49-F238E27FC236}">
                <a16:creationId xmlns:a16="http://schemas.microsoft.com/office/drawing/2014/main" id="{DC32CE87-739C-4AF9-6001-598CB526615F}"/>
              </a:ext>
            </a:extLst>
          </p:cNvPr>
          <p:cNvPicPr>
            <a:picLocks noChangeAspect="1"/>
          </p:cNvPicPr>
          <p:nvPr/>
        </p:nvPicPr>
        <p:blipFill>
          <a:blip r:embed="rId5"/>
          <a:stretch>
            <a:fillRect/>
          </a:stretch>
        </p:blipFill>
        <p:spPr>
          <a:xfrm>
            <a:off x="11428126" y="7683729"/>
            <a:ext cx="6121066" cy="211455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descr="$PPTXTitle"/>
          <p:cNvSpPr txBox="1">
            <a:spLocks noGrp="1"/>
          </p:cNvSpPr>
          <p:nvPr>
            <p:ph type="title"/>
          </p:nvPr>
        </p:nvSpPr>
        <p:spPr>
          <a:xfrm>
            <a:off x="3869495" y="647700"/>
            <a:ext cx="6547566" cy="888064"/>
          </a:xfrm>
          <a:prstGeom prst="rect">
            <a:avLst/>
          </a:prstGeom>
        </p:spPr>
        <p:txBody>
          <a:bodyPr vert="horz" wrap="square" lIns="0" tIns="132715" rIns="0" bIns="0" rtlCol="0">
            <a:spAutoFit/>
          </a:bodyPr>
          <a:lstStyle/>
          <a:p>
            <a:pPr algn="ctr">
              <a:lnSpc>
                <a:spcPct val="100000"/>
              </a:lnSpc>
              <a:spcBef>
                <a:spcPts val="1045"/>
              </a:spcBef>
            </a:pPr>
            <a:r>
              <a:rPr lang="es-ES" spc="-520" dirty="0"/>
              <a:t>DIAGRAMA UML</a:t>
            </a:r>
            <a:endParaRPr spc="-380" dirty="0"/>
          </a:p>
        </p:txBody>
      </p:sp>
      <p:pic>
        <p:nvPicPr>
          <p:cNvPr id="15" name="Marcador de contenido 14">
            <a:extLst>
              <a:ext uri="{FF2B5EF4-FFF2-40B4-BE49-F238E27FC236}">
                <a16:creationId xmlns:a16="http://schemas.microsoft.com/office/drawing/2014/main" id="{12001EBE-8BD3-F6F7-E4AD-12931AAA57D7}"/>
              </a:ext>
            </a:extLst>
          </p:cNvPr>
          <p:cNvPicPr>
            <a:picLocks noGrp="1" noChangeAspect="1"/>
          </p:cNvPicPr>
          <p:nvPr>
            <p:ph sz="half" idx="3"/>
          </p:nvPr>
        </p:nvPicPr>
        <p:blipFill>
          <a:blip r:embed="rId2">
            <a:extLst>
              <a:ext uri="{28A0092B-C50C-407E-A947-70E740481C1C}">
                <a14:useLocalDpi xmlns:a14="http://schemas.microsoft.com/office/drawing/2010/main" val="0"/>
              </a:ext>
            </a:extLst>
          </a:blip>
          <a:stretch>
            <a:fillRect/>
          </a:stretch>
        </p:blipFill>
        <p:spPr>
          <a:xfrm>
            <a:off x="1600200" y="1638300"/>
            <a:ext cx="9753600" cy="7571718"/>
          </a:xfrm>
          <a:prstGeom prst="rect">
            <a:avLst/>
          </a:prstGeom>
        </p:spPr>
      </p:pic>
      <p:pic>
        <p:nvPicPr>
          <p:cNvPr id="16" name="Imagen 15" descr="Crea diagramas UML online gratis | Canva">
            <a:extLst>
              <a:ext uri="{FF2B5EF4-FFF2-40B4-BE49-F238E27FC236}">
                <a16:creationId xmlns:a16="http://schemas.microsoft.com/office/drawing/2014/main" id="{82F683D2-BC3E-63C2-7B2E-9C8C19AE679E}"/>
              </a:ext>
            </a:extLst>
          </p:cNvPr>
          <p:cNvPicPr>
            <a:picLocks noChangeAspect="1"/>
          </p:cNvPicPr>
          <p:nvPr/>
        </p:nvPicPr>
        <p:blipFill>
          <a:blip r:embed="rId3"/>
          <a:stretch>
            <a:fillRect/>
          </a:stretch>
        </p:blipFill>
        <p:spPr>
          <a:xfrm rot="20895307">
            <a:off x="14654494" y="2218162"/>
            <a:ext cx="2911760" cy="2033610"/>
          </a:xfrm>
          <a:prstGeom prst="rect">
            <a:avLst/>
          </a:prstGeom>
          <a:ln>
            <a:noFill/>
          </a:ln>
          <a:effectLst>
            <a:outerShdw blurRad="292100" dist="139700" dir="2700000" algn="tl" rotWithShape="0">
              <a:srgbClr val="333333">
                <a:alpha val="65000"/>
              </a:srgbClr>
            </a:outerShdw>
          </a:effectLst>
        </p:spPr>
      </p:pic>
      <p:pic>
        <p:nvPicPr>
          <p:cNvPr id="17" name="Imagen 16" descr="Cuál es el origen del signo de interrogación y por qué en español se usa el  signo de apertura - Diario Mendoza">
            <a:extLst>
              <a:ext uri="{FF2B5EF4-FFF2-40B4-BE49-F238E27FC236}">
                <a16:creationId xmlns:a16="http://schemas.microsoft.com/office/drawing/2014/main" id="{236D6937-E74C-0ACC-23C1-F4FFBA2CDD23}"/>
              </a:ext>
            </a:extLst>
          </p:cNvPr>
          <p:cNvPicPr>
            <a:picLocks noChangeAspect="1"/>
          </p:cNvPicPr>
          <p:nvPr/>
        </p:nvPicPr>
        <p:blipFill>
          <a:blip r:embed="rId4"/>
          <a:stretch>
            <a:fillRect/>
          </a:stretch>
        </p:blipFill>
        <p:spPr>
          <a:xfrm rot="1446269">
            <a:off x="12983707" y="5120607"/>
            <a:ext cx="3390365" cy="22602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descr="$PPTXTitle"/>
          <p:cNvSpPr txBox="1">
            <a:spLocks noGrp="1"/>
          </p:cNvSpPr>
          <p:nvPr>
            <p:ph type="title"/>
          </p:nvPr>
        </p:nvSpPr>
        <p:spPr>
          <a:xfrm>
            <a:off x="3953627" y="626999"/>
            <a:ext cx="9753600" cy="772795"/>
          </a:xfrm>
          <a:prstGeom prst="rect">
            <a:avLst/>
          </a:prstGeom>
        </p:spPr>
        <p:txBody>
          <a:bodyPr vert="horz" wrap="square" lIns="0" tIns="12700" rIns="0" bIns="0" rtlCol="0">
            <a:spAutoFit/>
          </a:bodyPr>
          <a:lstStyle/>
          <a:p>
            <a:pPr marL="12700">
              <a:lnSpc>
                <a:spcPct val="100000"/>
              </a:lnSpc>
              <a:spcBef>
                <a:spcPts val="100"/>
              </a:spcBef>
            </a:pPr>
            <a:r>
              <a:rPr spc="-375" dirty="0"/>
              <a:t>Explicacion</a:t>
            </a:r>
            <a:r>
              <a:rPr spc="-335" dirty="0"/>
              <a:t> </a:t>
            </a:r>
            <a:r>
              <a:rPr spc="-245" dirty="0"/>
              <a:t>del</a:t>
            </a:r>
            <a:r>
              <a:rPr spc="-330" dirty="0"/>
              <a:t> </a:t>
            </a:r>
            <a:r>
              <a:rPr spc="-165" dirty="0"/>
              <a:t>funcionamiento</a:t>
            </a:r>
          </a:p>
        </p:txBody>
      </p:sp>
      <p:sp>
        <p:nvSpPr>
          <p:cNvPr id="7" name="object 4">
            <a:extLst>
              <a:ext uri="{FF2B5EF4-FFF2-40B4-BE49-F238E27FC236}">
                <a16:creationId xmlns:a16="http://schemas.microsoft.com/office/drawing/2014/main" id="{6B97CFA6-EE53-819E-96FC-DA8F738712B1}"/>
              </a:ext>
            </a:extLst>
          </p:cNvPr>
          <p:cNvSpPr txBox="1"/>
          <p:nvPr/>
        </p:nvSpPr>
        <p:spPr>
          <a:xfrm>
            <a:off x="914400" y="1790700"/>
            <a:ext cx="9753600" cy="3113673"/>
          </a:xfrm>
          <a:prstGeom prst="rect">
            <a:avLst/>
          </a:prstGeom>
        </p:spPr>
        <p:txBody>
          <a:bodyPr vert="horz" wrap="square" lIns="0" tIns="157480" rIns="0" bIns="0" rtlCol="0">
            <a:spAutoFit/>
          </a:bodyPr>
          <a:lstStyle/>
          <a:p>
            <a:r>
              <a:rPr lang="es-ES" sz="1600" b="1" dirty="0">
                <a:latin typeface="Arial Black" panose="020B0A04020102020204" pitchFamily="34" charset="0"/>
              </a:rPr>
              <a:t>1. Qué objeto inicia la operación</a:t>
            </a:r>
          </a:p>
          <a:p>
            <a:r>
              <a:rPr lang="es-ES" sz="1600" b="1" dirty="0">
                <a:latin typeface="Arial Black" panose="020B0A04020102020204" pitchFamily="34" charset="0"/>
              </a:rPr>
              <a:t>El objeto iniciador es el Invocador (</a:t>
            </a:r>
            <a:r>
              <a:rPr lang="es-ES" sz="1600" b="1" dirty="0" err="1">
                <a:latin typeface="Arial Black" panose="020B0A04020102020204" pitchFamily="34" charset="0"/>
              </a:rPr>
              <a:t>Invoker</a:t>
            </a:r>
            <a:r>
              <a:rPr lang="es-ES" sz="1600" b="1" dirty="0">
                <a:latin typeface="Arial Black" panose="020B0A04020102020204" pitchFamily="34" charset="0"/>
              </a:rPr>
              <a:t>).</a:t>
            </a:r>
            <a:endParaRPr lang="es-ES" sz="1600" dirty="0">
              <a:latin typeface="Arial Black" panose="020B0A04020102020204" pitchFamily="34" charset="0"/>
            </a:endParaRPr>
          </a:p>
          <a:p>
            <a:r>
              <a:rPr lang="es-ES" sz="1600" dirty="0">
                <a:latin typeface="Arial" panose="020B0604020202020204" pitchFamily="34" charset="0"/>
                <a:cs typeface="Arial" panose="020B0604020202020204" pitchFamily="34" charset="0"/>
              </a:rPr>
              <a:t>Este objeto (por ejemplo, un botón en la interfaz de usuario o un gestor de tareas) es el encargado de disparar la acción. </a:t>
            </a:r>
          </a:p>
          <a:p>
            <a:r>
              <a:rPr lang="es-ES" sz="1600" b="1" dirty="0">
                <a:latin typeface="Arial Black" panose="020B0A04020102020204" pitchFamily="34" charset="0"/>
              </a:rPr>
              <a:t>2. Qué clase o interfaz define el comportamiento</a:t>
            </a:r>
          </a:p>
          <a:p>
            <a:r>
              <a:rPr lang="es-ES" sz="1600" b="1" dirty="0">
                <a:latin typeface="Arial Black" panose="020B0A04020102020204" pitchFamily="34" charset="0"/>
              </a:rPr>
              <a:t>El comportamiento lo define la interfaz </a:t>
            </a:r>
            <a:r>
              <a:rPr lang="es-ES" sz="1600" b="1" dirty="0" err="1">
                <a:latin typeface="Arial Black" panose="020B0A04020102020204" pitchFamily="34" charset="0"/>
              </a:rPr>
              <a:t>Command</a:t>
            </a:r>
            <a:r>
              <a:rPr lang="es-ES" sz="1600" b="1" dirty="0">
                <a:latin typeface="Arial Black" panose="020B0A04020102020204" pitchFamily="34" charset="0"/>
              </a:rPr>
              <a:t>.</a:t>
            </a:r>
            <a:endParaRPr lang="es-ES" sz="1600" dirty="0">
              <a:latin typeface="Arial Black" panose="020B0A04020102020204" pitchFamily="34" charset="0"/>
            </a:endParaRPr>
          </a:p>
          <a:p>
            <a:r>
              <a:rPr lang="es-ES" sz="1600" dirty="0">
                <a:latin typeface="Arial" panose="020B0604020202020204" pitchFamily="34" charset="0"/>
                <a:cs typeface="Arial" panose="020B0604020202020204" pitchFamily="34" charset="0"/>
              </a:rPr>
              <a:t>Es la abstracción (o clase abstracta) que establece el contrato básico de comunicación. Por lo general, solo declara el método abstracto </a:t>
            </a:r>
            <a:r>
              <a:rPr lang="es-ES" sz="1600" dirty="0" err="1">
                <a:latin typeface="Arial" panose="020B0604020202020204" pitchFamily="34" charset="0"/>
                <a:cs typeface="Arial" panose="020B0604020202020204" pitchFamily="34" charset="0"/>
              </a:rPr>
              <a:t>execute</a:t>
            </a:r>
            <a:r>
              <a:rPr lang="es-ES" sz="1600" dirty="0">
                <a:latin typeface="Arial" panose="020B0604020202020204" pitchFamily="34" charset="0"/>
                <a:cs typeface="Arial" panose="020B0604020202020204" pitchFamily="34" charset="0"/>
              </a:rPr>
              <a:t>(). </a:t>
            </a:r>
          </a:p>
          <a:p>
            <a:r>
              <a:rPr lang="es-ES" sz="1600" b="1" dirty="0">
                <a:latin typeface="Arial Black" panose="020B0A04020102020204" pitchFamily="34" charset="0"/>
              </a:rPr>
              <a:t>3. Qué clase implementa el comportamiento concreto</a:t>
            </a:r>
          </a:p>
          <a:p>
            <a:r>
              <a:rPr lang="es-ES" sz="1600" b="1" dirty="0">
                <a:latin typeface="Arial Black" panose="020B0A04020102020204" pitchFamily="34" charset="0"/>
              </a:rPr>
              <a:t>El comportamiento concreto lo implementa el Comando Concreto (</a:t>
            </a:r>
            <a:r>
              <a:rPr lang="es-ES" sz="1600" b="1" dirty="0" err="1">
                <a:latin typeface="Arial Black" panose="020B0A04020102020204" pitchFamily="34" charset="0"/>
              </a:rPr>
              <a:t>ConcreteCommand</a:t>
            </a:r>
            <a:r>
              <a:rPr lang="es-ES" sz="1600" b="1" dirty="0">
                <a:latin typeface="Arial Black" panose="020B0A04020102020204" pitchFamily="34" charset="0"/>
              </a:rPr>
              <a:t>).</a:t>
            </a:r>
            <a:endParaRPr lang="es-ES" sz="1600" dirty="0">
              <a:latin typeface="Arial Black" panose="020B0A04020102020204" pitchFamily="34" charset="0"/>
            </a:endParaRPr>
          </a:p>
          <a:p>
            <a:r>
              <a:rPr lang="es-ES" sz="1600" dirty="0">
                <a:latin typeface="Arial" panose="020B0604020202020204" pitchFamily="34" charset="0"/>
                <a:cs typeface="Arial" panose="020B0604020202020204" pitchFamily="34" charset="0"/>
              </a:rPr>
              <a:t>Esta clase hereda o implementa la interfaz </a:t>
            </a:r>
            <a:r>
              <a:rPr lang="es-ES" sz="1600" dirty="0" err="1">
                <a:latin typeface="Arial" panose="020B0604020202020204" pitchFamily="34" charset="0"/>
                <a:cs typeface="Arial" panose="020B0604020202020204" pitchFamily="34" charset="0"/>
              </a:rPr>
              <a:t>Command</a:t>
            </a:r>
            <a:r>
              <a:rPr lang="es-ES" sz="1600" dirty="0">
                <a:latin typeface="Arial" panose="020B0604020202020204" pitchFamily="34" charset="0"/>
                <a:cs typeface="Arial" panose="020B0604020202020204" pitchFamily="34" charset="0"/>
              </a:rPr>
              <a:t>. Su función es definir la vinculación entre una acción específica y el objeto que realmente sabe hacer el trabajo.</a:t>
            </a:r>
          </a:p>
        </p:txBody>
      </p:sp>
      <p:sp>
        <p:nvSpPr>
          <p:cNvPr id="8" name="object 4">
            <a:extLst>
              <a:ext uri="{FF2B5EF4-FFF2-40B4-BE49-F238E27FC236}">
                <a16:creationId xmlns:a16="http://schemas.microsoft.com/office/drawing/2014/main" id="{FB66C92B-D923-9097-3B24-8A3E505D18C6}"/>
              </a:ext>
            </a:extLst>
          </p:cNvPr>
          <p:cNvSpPr txBox="1"/>
          <p:nvPr/>
        </p:nvSpPr>
        <p:spPr>
          <a:xfrm>
            <a:off x="8834720" y="4904373"/>
            <a:ext cx="9144000" cy="2867452"/>
          </a:xfrm>
          <a:prstGeom prst="rect">
            <a:avLst/>
          </a:prstGeom>
        </p:spPr>
        <p:txBody>
          <a:bodyPr vert="horz" wrap="square" lIns="0" tIns="157480" rIns="0" bIns="0" rtlCol="0">
            <a:spAutoFit/>
          </a:bodyPr>
          <a:lstStyle/>
          <a:p>
            <a:r>
              <a:rPr lang="es-ES" sz="1600" b="1" dirty="0">
                <a:latin typeface="Arial Black" panose="020B0A04020102020204" pitchFamily="34" charset="0"/>
              </a:rPr>
              <a:t>4. Qué objeto delega responsabilidades</a:t>
            </a:r>
          </a:p>
          <a:p>
            <a:r>
              <a:rPr lang="es-ES" sz="1600" b="1" dirty="0">
                <a:latin typeface="Arial Black" panose="020B0A04020102020204" pitchFamily="34" charset="0"/>
              </a:rPr>
              <a:t>El objeto que delega es el Comando Concreto (</a:t>
            </a:r>
            <a:r>
              <a:rPr lang="es-ES" sz="1600" b="1" dirty="0" err="1">
                <a:latin typeface="Arial Black" panose="020B0A04020102020204" pitchFamily="34" charset="0"/>
              </a:rPr>
              <a:t>ConcreteCommand</a:t>
            </a:r>
            <a:r>
              <a:rPr lang="es-ES" sz="1600" b="1" dirty="0">
                <a:latin typeface="Arial Black" panose="020B0A04020102020204" pitchFamily="34" charset="0"/>
              </a:rPr>
              <a:t>).</a:t>
            </a:r>
            <a:endParaRPr lang="es-ES" sz="1600" dirty="0">
              <a:latin typeface="Arial Black" panose="020B0A04020102020204" pitchFamily="34" charset="0"/>
            </a:endParaRPr>
          </a:p>
          <a:p>
            <a:r>
              <a:rPr lang="es-ES" sz="1600" dirty="0">
                <a:latin typeface="Arial" panose="020B0604020202020204" pitchFamily="34" charset="0"/>
                <a:cs typeface="Arial" panose="020B0604020202020204" pitchFamily="34" charset="0"/>
              </a:rPr>
              <a:t>Cuando el </a:t>
            </a:r>
            <a:r>
              <a:rPr lang="es-ES" sz="1600" dirty="0" err="1">
                <a:latin typeface="Arial" panose="020B0604020202020204" pitchFamily="34" charset="0"/>
                <a:cs typeface="Arial" panose="020B0604020202020204" pitchFamily="34" charset="0"/>
              </a:rPr>
              <a:t>Invoker</a:t>
            </a:r>
            <a:r>
              <a:rPr lang="es-ES" sz="1600" dirty="0">
                <a:latin typeface="Arial" panose="020B0604020202020204" pitchFamily="34" charset="0"/>
                <a:cs typeface="Arial" panose="020B0604020202020204" pitchFamily="34" charset="0"/>
              </a:rPr>
              <a:t> llama al método </a:t>
            </a:r>
            <a:r>
              <a:rPr lang="es-ES" sz="1600" dirty="0" err="1">
                <a:latin typeface="Arial" panose="020B0604020202020204" pitchFamily="34" charset="0"/>
                <a:cs typeface="Arial" panose="020B0604020202020204" pitchFamily="34" charset="0"/>
              </a:rPr>
              <a:t>execute</a:t>
            </a:r>
            <a:r>
              <a:rPr lang="es-ES" sz="1600" dirty="0">
                <a:latin typeface="Arial" panose="020B0604020202020204" pitchFamily="34" charset="0"/>
                <a:cs typeface="Arial" panose="020B0604020202020204" pitchFamily="34" charset="0"/>
              </a:rPr>
              <a:t>(), el </a:t>
            </a:r>
            <a:r>
              <a:rPr lang="es-ES" sz="1600" dirty="0" err="1">
                <a:latin typeface="Arial" panose="020B0604020202020204" pitchFamily="34" charset="0"/>
                <a:cs typeface="Arial" panose="020B0604020202020204" pitchFamily="34" charset="0"/>
              </a:rPr>
              <a:t>ConcreteCommand</a:t>
            </a:r>
            <a:r>
              <a:rPr lang="es-ES" sz="1600" dirty="0">
                <a:latin typeface="Arial" panose="020B0604020202020204" pitchFamily="34" charset="0"/>
                <a:cs typeface="Arial" panose="020B0604020202020204" pitchFamily="34" charset="0"/>
              </a:rPr>
              <a:t> no procesa la lógica de negocio por sí mismo. Lo que hace es </a:t>
            </a:r>
            <a:r>
              <a:rPr lang="es-ES" sz="1600" b="1" dirty="0">
                <a:latin typeface="Arial" panose="020B0604020202020204" pitchFamily="34" charset="0"/>
                <a:cs typeface="Arial" panose="020B0604020202020204" pitchFamily="34" charset="0"/>
              </a:rPr>
              <a:t>delegar</a:t>
            </a:r>
            <a:r>
              <a:rPr lang="es-ES" sz="1600" dirty="0">
                <a:latin typeface="Arial" panose="020B0604020202020204" pitchFamily="34" charset="0"/>
                <a:cs typeface="Arial" panose="020B0604020202020204" pitchFamily="34" charset="0"/>
              </a:rPr>
              <a:t> la responsabilidad de inmediato, invocando los métodos específicos del objeto receptor (Receiver). Actúa estrictamente como un puente o intermediario.</a:t>
            </a:r>
          </a:p>
          <a:p>
            <a:r>
              <a:rPr lang="es-ES" sz="1600" b="1" dirty="0">
                <a:latin typeface="Arial Black" panose="020B0A04020102020204" pitchFamily="34" charset="0"/>
              </a:rPr>
              <a:t>5. Cómo se obtiene el resultado final</a:t>
            </a:r>
          </a:p>
          <a:p>
            <a:r>
              <a:rPr lang="es-ES" sz="1600" b="1" dirty="0">
                <a:latin typeface="Arial Black" panose="020B0A04020102020204" pitchFamily="34" charset="0"/>
              </a:rPr>
              <a:t>El resultado se obtiene a través del Receptor (Receiver).</a:t>
            </a:r>
            <a:endParaRPr lang="es-ES" sz="1600" dirty="0">
              <a:latin typeface="Arial Black" panose="020B0A04020102020204" pitchFamily="34" charset="0"/>
            </a:endParaRPr>
          </a:p>
          <a:p>
            <a:r>
              <a:rPr lang="es-ES" sz="1600" dirty="0">
                <a:latin typeface="Arial" panose="020B0604020202020204" pitchFamily="34" charset="0"/>
                <a:cs typeface="Arial" panose="020B0604020202020204" pitchFamily="34" charset="0"/>
              </a:rPr>
              <a:t>El Receiver es el objeto que contiene la verdadera lógica de negocio (por ejemplo, la clase que edita un documento, que abre una base de datos o que enciende una luz). Cuando recibe la orden delegada por el comando concreto, ejecuta su método nativo y produce el cambio de estado o resultado final esperado en el sistema.</a:t>
            </a:r>
          </a:p>
        </p:txBody>
      </p:sp>
      <p:pic>
        <p:nvPicPr>
          <p:cNvPr id="9" name="Imagen 8" descr="Programador codificando">
            <a:extLst>
              <a:ext uri="{FF2B5EF4-FFF2-40B4-BE49-F238E27FC236}">
                <a16:creationId xmlns:a16="http://schemas.microsoft.com/office/drawing/2014/main" id="{EC2E38DA-C864-5E33-5FD1-031B7CF3D196}"/>
              </a:ext>
            </a:extLst>
          </p:cNvPr>
          <p:cNvPicPr>
            <a:picLocks noChangeAspect="1"/>
          </p:cNvPicPr>
          <p:nvPr/>
        </p:nvPicPr>
        <p:blipFill>
          <a:blip r:embed="rId2"/>
          <a:stretch>
            <a:fillRect/>
          </a:stretch>
        </p:blipFill>
        <p:spPr>
          <a:xfrm>
            <a:off x="11430000" y="2155807"/>
            <a:ext cx="4879662" cy="274481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4" name="Imagen 13">
            <a:extLst>
              <a:ext uri="{FF2B5EF4-FFF2-40B4-BE49-F238E27FC236}">
                <a16:creationId xmlns:a16="http://schemas.microsoft.com/office/drawing/2014/main" id="{2811E0B8-03E6-D606-F721-D0D87C4C3B30}"/>
              </a:ext>
            </a:extLst>
          </p:cNvPr>
          <p:cNvPicPr>
            <a:picLocks noChangeAspect="1"/>
          </p:cNvPicPr>
          <p:nvPr/>
        </p:nvPicPr>
        <p:blipFill>
          <a:blip r:embed="rId3"/>
          <a:stretch>
            <a:fillRect/>
          </a:stretch>
        </p:blipFill>
        <p:spPr>
          <a:xfrm>
            <a:off x="762000" y="6078945"/>
            <a:ext cx="7283562" cy="241735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741AF9-14B5-4B72-D3F0-546EC8A18D7C}"/>
              </a:ext>
            </a:extLst>
          </p:cNvPr>
          <p:cNvSpPr>
            <a:spLocks noGrp="1"/>
          </p:cNvSpPr>
          <p:nvPr>
            <p:ph type="title"/>
          </p:nvPr>
        </p:nvSpPr>
        <p:spPr>
          <a:xfrm>
            <a:off x="2297747" y="1409700"/>
            <a:ext cx="12256453" cy="754053"/>
          </a:xfrm>
        </p:spPr>
        <p:txBody>
          <a:bodyPr/>
          <a:lstStyle/>
          <a:p>
            <a:r>
              <a:rPr lang="es-ES" dirty="0"/>
              <a:t>PLANTEAMIENTO PROBLEMA REAL</a:t>
            </a:r>
            <a:endParaRPr lang="es-CO" dirty="0"/>
          </a:p>
        </p:txBody>
      </p:sp>
      <p:sp>
        <p:nvSpPr>
          <p:cNvPr id="3" name="Marcador de texto 2">
            <a:extLst>
              <a:ext uri="{FF2B5EF4-FFF2-40B4-BE49-F238E27FC236}">
                <a16:creationId xmlns:a16="http://schemas.microsoft.com/office/drawing/2014/main" id="{5C236469-316D-0D99-64D9-73FDA09FE272}"/>
              </a:ext>
            </a:extLst>
          </p:cNvPr>
          <p:cNvSpPr>
            <a:spLocks noGrp="1"/>
          </p:cNvSpPr>
          <p:nvPr>
            <p:ph type="body" idx="1"/>
          </p:nvPr>
        </p:nvSpPr>
        <p:spPr>
          <a:xfrm>
            <a:off x="851058" y="2781301"/>
            <a:ext cx="10578942" cy="6170920"/>
          </a:xfrm>
        </p:spPr>
        <p:txBody>
          <a:bodyPr/>
          <a:lstStyle/>
          <a:p>
            <a:r>
              <a:rPr lang="es-ES" sz="2400" dirty="0">
                <a:latin typeface="Arial" panose="020B0604020202020204" pitchFamily="34" charset="0"/>
                <a:cs typeface="Arial" panose="020B0604020202020204" pitchFamily="34" charset="0"/>
              </a:rPr>
              <a:t>Se desea desarrollar una </a:t>
            </a:r>
            <a:r>
              <a:rPr lang="es-ES" sz="2400" b="1" dirty="0">
                <a:latin typeface="Arial" panose="020B0604020202020204" pitchFamily="34" charset="0"/>
                <a:cs typeface="Arial" panose="020B0604020202020204" pitchFamily="34" charset="0"/>
              </a:rPr>
              <a:t>aplicación web sencilla en </a:t>
            </a:r>
            <a:r>
              <a:rPr lang="es-ES" sz="2400" b="1" dirty="0" err="1">
                <a:latin typeface="Arial" panose="020B0604020202020204" pitchFamily="34" charset="0"/>
                <a:cs typeface="Arial" panose="020B0604020202020204" pitchFamily="34" charset="0"/>
              </a:rPr>
              <a:t>React</a:t>
            </a:r>
            <a:r>
              <a:rPr lang="es-ES" sz="2400" dirty="0">
                <a:latin typeface="Arial" panose="020B0604020202020204" pitchFamily="34" charset="0"/>
                <a:cs typeface="Arial" panose="020B0604020202020204" pitchFamily="34" charset="0"/>
              </a:rPr>
              <a:t> que permita controlar el estado de una luz a través de una interfaz gráfica intuitiva.</a:t>
            </a:r>
          </a:p>
          <a:p>
            <a:r>
              <a:rPr lang="es-ES" sz="2400" dirty="0">
                <a:latin typeface="Arial" panose="020B0604020202020204" pitchFamily="34" charset="0"/>
                <a:cs typeface="Arial" panose="020B0604020202020204" pitchFamily="34" charset="0"/>
              </a:rPr>
              <a:t>El sistema contará con botones que permitirán al usuario interactuar con la luz de manera simple y directa. Las acciones disponibles serán:</a:t>
            </a:r>
          </a:p>
          <a:p>
            <a:endParaRPr lang="es-ES" sz="2400" dirty="0">
              <a:latin typeface="Arial" panose="020B0604020202020204" pitchFamily="34" charset="0"/>
              <a:cs typeface="Arial" panose="020B0604020202020204" pitchFamily="34" charset="0"/>
            </a:endParaRPr>
          </a:p>
          <a:p>
            <a:r>
              <a:rPr lang="es-ES" sz="2400" dirty="0">
                <a:latin typeface="Arial" panose="020B0604020202020204" pitchFamily="34" charset="0"/>
                <a:cs typeface="Arial" panose="020B0604020202020204" pitchFamily="34" charset="0"/>
              </a:rPr>
              <a:t>💡 </a:t>
            </a:r>
            <a:r>
              <a:rPr lang="es-ES" sz="2400" b="1" dirty="0">
                <a:latin typeface="Arial" panose="020B0604020202020204" pitchFamily="34" charset="0"/>
                <a:cs typeface="Arial" panose="020B0604020202020204" pitchFamily="34" charset="0"/>
              </a:rPr>
              <a:t>Encender la luz</a:t>
            </a:r>
            <a:br>
              <a:rPr lang="es-ES" sz="2400" dirty="0">
                <a:latin typeface="Arial" panose="020B0604020202020204" pitchFamily="34" charset="0"/>
                <a:cs typeface="Arial" panose="020B0604020202020204" pitchFamily="34" charset="0"/>
              </a:rPr>
            </a:br>
            <a:r>
              <a:rPr lang="es-ES" sz="2400" dirty="0">
                <a:latin typeface="Arial" panose="020B0604020202020204" pitchFamily="34" charset="0"/>
                <a:cs typeface="Arial" panose="020B0604020202020204" pitchFamily="34" charset="0"/>
              </a:rPr>
              <a:t>🌑 </a:t>
            </a:r>
            <a:r>
              <a:rPr lang="es-ES" sz="2400" b="1" dirty="0">
                <a:latin typeface="Arial" panose="020B0604020202020204" pitchFamily="34" charset="0"/>
                <a:cs typeface="Arial" panose="020B0604020202020204" pitchFamily="34" charset="0"/>
              </a:rPr>
              <a:t>Apagar la luz</a:t>
            </a:r>
          </a:p>
          <a:p>
            <a:endParaRPr lang="es-ES" sz="2400" b="1" dirty="0">
              <a:latin typeface="Arial" panose="020B0604020202020204" pitchFamily="34" charset="0"/>
              <a:cs typeface="Arial" panose="020B0604020202020204" pitchFamily="34" charset="0"/>
            </a:endParaRPr>
          </a:p>
          <a:p>
            <a:r>
              <a:rPr lang="es-ES" sz="2400" dirty="0">
                <a:latin typeface="Arial" panose="020B0604020202020204" pitchFamily="34" charset="0"/>
                <a:cs typeface="Arial" panose="020B0604020202020204" pitchFamily="34" charset="0"/>
              </a:rPr>
              <a:t>El objetivo es que la interfaz de usuario no dependa directamente de la lógica interna del dispositivo, de modo que las acciones puedan gestionarse de forma desacoplada y organizada.</a:t>
            </a:r>
          </a:p>
          <a:p>
            <a:r>
              <a:rPr lang="es-ES" sz="2400" dirty="0">
                <a:latin typeface="Arial" panose="020B0604020202020204" pitchFamily="34" charset="0"/>
                <a:cs typeface="Arial" panose="020B0604020202020204" pitchFamily="34" charset="0"/>
              </a:rPr>
              <a:t>Para ello, se busca implementar una solución basada en el </a:t>
            </a:r>
            <a:r>
              <a:rPr lang="es-ES" sz="2400" b="1" dirty="0">
                <a:latin typeface="Arial" panose="020B0604020202020204" pitchFamily="34" charset="0"/>
                <a:cs typeface="Arial" panose="020B0604020202020204" pitchFamily="34" charset="0"/>
              </a:rPr>
              <a:t>patrón de diseño </a:t>
            </a:r>
            <a:r>
              <a:rPr lang="es-ES" sz="2400" b="1" dirty="0" err="1">
                <a:latin typeface="Arial" panose="020B0604020202020204" pitchFamily="34" charset="0"/>
                <a:cs typeface="Arial" panose="020B0604020202020204" pitchFamily="34" charset="0"/>
              </a:rPr>
              <a:t>Command</a:t>
            </a:r>
            <a:r>
              <a:rPr lang="es-ES" sz="2400" dirty="0">
                <a:latin typeface="Arial" panose="020B0604020202020204" pitchFamily="34" charset="0"/>
                <a:cs typeface="Arial" panose="020B0604020202020204" pitchFamily="34" charset="0"/>
              </a:rPr>
              <a:t>, donde cada acción sobre la luz se represente como un comando independiente. Esto permitirá una mejor organización del código y facilitará el mantenimiento del sistema.</a:t>
            </a:r>
          </a:p>
          <a:p>
            <a:endParaRPr lang="es-CO" dirty="0"/>
          </a:p>
        </p:txBody>
      </p:sp>
      <p:pic>
        <p:nvPicPr>
          <p:cNvPr id="4" name="Imagen 3" descr="Por qué es importante enfocarse en el problema para encontrar soluciones? |  Capital Humano">
            <a:extLst>
              <a:ext uri="{FF2B5EF4-FFF2-40B4-BE49-F238E27FC236}">
                <a16:creationId xmlns:a16="http://schemas.microsoft.com/office/drawing/2014/main" id="{A08F8889-A5C2-0410-FEC9-1AABA21E977B}"/>
              </a:ext>
            </a:extLst>
          </p:cNvPr>
          <p:cNvPicPr>
            <a:picLocks noChangeAspect="1"/>
          </p:cNvPicPr>
          <p:nvPr/>
        </p:nvPicPr>
        <p:blipFill>
          <a:blip r:embed="rId2"/>
          <a:stretch>
            <a:fillRect/>
          </a:stretch>
        </p:blipFill>
        <p:spPr>
          <a:xfrm>
            <a:off x="12773717" y="3570375"/>
            <a:ext cx="4648200" cy="314625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904575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90601" y="1962180"/>
            <a:ext cx="14173200" cy="6362639"/>
          </a:xfrm>
          <a:prstGeom prst="rect">
            <a:avLst/>
          </a:prstGeom>
        </p:spPr>
        <p:txBody>
          <a:bodyPr vert="horz" wrap="square" lIns="0" tIns="83185" rIns="0" bIns="0" rtlCol="0">
            <a:spAutoFit/>
          </a:bodyPr>
          <a:lstStyle/>
          <a:p>
            <a:pPr marL="571500" indent="-571500">
              <a:buClr>
                <a:srgbClr val="00B050"/>
              </a:buClr>
              <a:buFont typeface="Wingdings" panose="05000000000000000000" pitchFamily="2" charset="2"/>
              <a:buChar char="ü"/>
            </a:pPr>
            <a:r>
              <a:rPr lang="es-ES" sz="3600" b="1" dirty="0">
                <a:latin typeface="Arial Black" panose="020B0A04020102020204" pitchFamily="34" charset="0"/>
              </a:rPr>
              <a:t>Reduce el acoplamiento</a:t>
            </a:r>
          </a:p>
          <a:p>
            <a:pPr>
              <a:buClr>
                <a:srgbClr val="00B050"/>
              </a:buClr>
            </a:pPr>
            <a:r>
              <a:rPr lang="es-ES" sz="3200" dirty="0">
                <a:latin typeface="Arial" panose="020B0604020202020204" pitchFamily="34" charset="0"/>
                <a:cs typeface="Arial" panose="020B0604020202020204" pitchFamily="34" charset="0"/>
              </a:rPr>
              <a:t>Separa el objeto que solicita una acción del objeto que la ejecuta.</a:t>
            </a:r>
          </a:p>
          <a:p>
            <a:pPr marL="571500" indent="-571500">
              <a:buClr>
                <a:srgbClr val="00B050"/>
              </a:buClr>
              <a:buFont typeface="Wingdings" panose="05000000000000000000" pitchFamily="2" charset="2"/>
              <a:buChar char="ü"/>
            </a:pPr>
            <a:r>
              <a:rPr lang="es-ES" sz="3600" b="1" dirty="0">
                <a:latin typeface="Arial Black" panose="020B0A04020102020204" pitchFamily="34" charset="0"/>
              </a:rPr>
              <a:t>Facilita la extensibilidad</a:t>
            </a:r>
          </a:p>
          <a:p>
            <a:pPr>
              <a:buClr>
                <a:srgbClr val="00B050"/>
              </a:buClr>
            </a:pPr>
            <a:r>
              <a:rPr lang="es-ES" sz="3200" dirty="0">
                <a:latin typeface="Arial" panose="020B0604020202020204" pitchFamily="34" charset="0"/>
                <a:cs typeface="Arial" panose="020B0604020202020204" pitchFamily="34" charset="0"/>
              </a:rPr>
              <a:t>Permite agregar nuevas acciones sin modificar el código existente.</a:t>
            </a:r>
          </a:p>
          <a:p>
            <a:pPr marL="571500" indent="-571500">
              <a:buClr>
                <a:srgbClr val="00B050"/>
              </a:buClr>
              <a:buFont typeface="Wingdings" panose="05000000000000000000" pitchFamily="2" charset="2"/>
              <a:buChar char="ü"/>
            </a:pPr>
            <a:r>
              <a:rPr lang="es-ES" sz="3600" b="1" dirty="0">
                <a:latin typeface="Arial Black" panose="020B0A04020102020204" pitchFamily="34" charset="0"/>
              </a:rPr>
              <a:t>Favorece el mantenimiento</a:t>
            </a:r>
          </a:p>
          <a:p>
            <a:pPr>
              <a:buClr>
                <a:srgbClr val="00B050"/>
              </a:buClr>
            </a:pPr>
            <a:r>
              <a:rPr lang="es-ES" sz="3200" dirty="0">
                <a:latin typeface="Arial" panose="020B0604020202020204" pitchFamily="34" charset="0"/>
                <a:cs typeface="Arial" panose="020B0604020202020204" pitchFamily="34" charset="0"/>
              </a:rPr>
              <a:t>Cada comando está encapsulado en clases independientes.</a:t>
            </a:r>
          </a:p>
          <a:p>
            <a:pPr marL="571500" indent="-571500">
              <a:buClr>
                <a:srgbClr val="00B050"/>
              </a:buClr>
              <a:buFont typeface="Wingdings" panose="05000000000000000000" pitchFamily="2" charset="2"/>
              <a:buChar char="ü"/>
            </a:pPr>
            <a:r>
              <a:rPr lang="es-ES" sz="3600" b="1" dirty="0">
                <a:latin typeface="Arial Black" panose="020B0A04020102020204" pitchFamily="34" charset="0"/>
              </a:rPr>
              <a:t>Permite implementar </a:t>
            </a:r>
            <a:r>
              <a:rPr lang="es-ES" sz="3600" b="1" dirty="0" err="1">
                <a:latin typeface="Arial Black" panose="020B0A04020102020204" pitchFamily="34" charset="0"/>
              </a:rPr>
              <a:t>Undo</a:t>
            </a:r>
            <a:r>
              <a:rPr lang="es-ES" sz="3600" b="1" dirty="0">
                <a:latin typeface="Arial Black" panose="020B0A04020102020204" pitchFamily="34" charset="0"/>
              </a:rPr>
              <a:t>/Redo</a:t>
            </a:r>
          </a:p>
          <a:p>
            <a:pPr>
              <a:buClr>
                <a:srgbClr val="00B050"/>
              </a:buClr>
            </a:pPr>
            <a:r>
              <a:rPr lang="es-ES" sz="3200" dirty="0">
                <a:latin typeface="Arial" panose="020B0604020202020204" pitchFamily="34" charset="0"/>
                <a:cs typeface="Arial" panose="020B0604020202020204" pitchFamily="34" charset="0"/>
              </a:rPr>
              <a:t>Facilita funcionalidades de deshacer y rehacer acciones.</a:t>
            </a:r>
          </a:p>
          <a:p>
            <a:pPr marL="571500" indent="-571500">
              <a:buClr>
                <a:srgbClr val="00B050"/>
              </a:buClr>
              <a:buFont typeface="Wingdings" panose="05000000000000000000" pitchFamily="2" charset="2"/>
              <a:buChar char="ü"/>
            </a:pPr>
            <a:r>
              <a:rPr lang="es-ES" sz="3600" b="1" dirty="0">
                <a:latin typeface="Arial Black" panose="020B0A04020102020204" pitchFamily="34" charset="0"/>
              </a:rPr>
              <a:t>Reutilización de comandos</a:t>
            </a:r>
          </a:p>
          <a:p>
            <a:pPr>
              <a:buClr>
                <a:srgbClr val="00B050"/>
              </a:buClr>
            </a:pPr>
            <a:r>
              <a:rPr lang="es-ES" sz="3200" dirty="0">
                <a:latin typeface="Arial" panose="020B0604020202020204" pitchFamily="34" charset="0"/>
                <a:cs typeface="Arial" panose="020B0604020202020204" pitchFamily="34" charset="0"/>
              </a:rPr>
              <a:t>Los comandos pueden reutilizarse en diferentes partes del sistema.</a:t>
            </a:r>
          </a:p>
          <a:p>
            <a:pPr marL="571500" indent="-571500">
              <a:buClr>
                <a:srgbClr val="00B050"/>
              </a:buClr>
              <a:buFont typeface="Wingdings" panose="05000000000000000000" pitchFamily="2" charset="2"/>
              <a:buChar char="ü"/>
            </a:pPr>
            <a:r>
              <a:rPr lang="es-ES" sz="3600" b="1" dirty="0">
                <a:latin typeface="Arial Black" panose="020B0A04020102020204" pitchFamily="34" charset="0"/>
              </a:rPr>
              <a:t>Permite automatización y colas de tareas</a:t>
            </a:r>
          </a:p>
          <a:p>
            <a:pPr>
              <a:buClr>
                <a:srgbClr val="00B050"/>
              </a:buClr>
            </a:pPr>
            <a:r>
              <a:rPr lang="es-ES" sz="3200" dirty="0">
                <a:latin typeface="Arial" panose="020B0604020202020204" pitchFamily="34" charset="0"/>
                <a:cs typeface="Arial" panose="020B0604020202020204" pitchFamily="34" charset="0"/>
              </a:rPr>
              <a:t>Las acciones pueden almacenarse, programarse o ejecutarse posteriormente.</a:t>
            </a:r>
          </a:p>
        </p:txBody>
      </p:sp>
      <p:sp>
        <p:nvSpPr>
          <p:cNvPr id="4" name="object 4" descr="$PPTXTitle"/>
          <p:cNvSpPr txBox="1">
            <a:spLocks noGrp="1"/>
          </p:cNvSpPr>
          <p:nvPr>
            <p:ph type="title"/>
          </p:nvPr>
        </p:nvSpPr>
        <p:spPr>
          <a:xfrm>
            <a:off x="2819400" y="609543"/>
            <a:ext cx="10134600" cy="689932"/>
          </a:xfrm>
          <a:prstGeom prst="rect">
            <a:avLst/>
          </a:prstGeom>
        </p:spPr>
        <p:txBody>
          <a:bodyPr vert="horz" wrap="square" lIns="0" tIns="12700" rIns="0" bIns="0" rtlCol="0">
            <a:spAutoFit/>
          </a:bodyPr>
          <a:lstStyle/>
          <a:p>
            <a:pPr marL="12700">
              <a:lnSpc>
                <a:spcPct val="100000"/>
              </a:lnSpc>
              <a:spcBef>
                <a:spcPts val="100"/>
              </a:spcBef>
            </a:pPr>
            <a:r>
              <a:rPr lang="es-ES" sz="4400" spc="-325" dirty="0"/>
              <a:t>VENTAJAS DEL PATRON COMMAND</a:t>
            </a:r>
            <a:endParaRPr sz="4400" spc="-120" dirty="0"/>
          </a:p>
        </p:txBody>
      </p:sp>
      <p:pic>
        <p:nvPicPr>
          <p:cNvPr id="5" name="Imagen 4" descr="Página 2 | Vectores de Chulito - Descarga vectores gratis de gran calidad |  Magnific (anteriormente Freepik)">
            <a:extLst>
              <a:ext uri="{FF2B5EF4-FFF2-40B4-BE49-F238E27FC236}">
                <a16:creationId xmlns:a16="http://schemas.microsoft.com/office/drawing/2014/main" id="{1B77D303-E4E2-BD6E-3733-CECEEC360708}"/>
              </a:ext>
            </a:extLst>
          </p:cNvPr>
          <p:cNvPicPr>
            <a:picLocks noChangeAspect="1"/>
          </p:cNvPicPr>
          <p:nvPr/>
        </p:nvPicPr>
        <p:blipFill>
          <a:blip r:embed="rId2"/>
          <a:stretch>
            <a:fillRect/>
          </a:stretch>
        </p:blipFill>
        <p:spPr>
          <a:xfrm rot="20689404">
            <a:off x="14351494" y="2292874"/>
            <a:ext cx="2914650" cy="29146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495800" y="2247900"/>
            <a:ext cx="13886815" cy="6189515"/>
          </a:xfrm>
          <a:prstGeom prst="rect">
            <a:avLst/>
          </a:prstGeom>
        </p:spPr>
        <p:txBody>
          <a:bodyPr vert="horz" wrap="square" lIns="0" tIns="94615" rIns="0" bIns="0" rtlCol="0">
            <a:spAutoFit/>
          </a:bodyPr>
          <a:lstStyle/>
          <a:p>
            <a:pPr marL="571500" indent="-571500" algn="l">
              <a:buClr>
                <a:srgbClr val="FF0000"/>
              </a:buClr>
              <a:buFontTx/>
              <a:buChar char="X"/>
            </a:pPr>
            <a:r>
              <a:rPr lang="es-ES" sz="3600" b="1" dirty="0">
                <a:latin typeface="Arial Black" panose="020B0A04020102020204" pitchFamily="34" charset="0"/>
              </a:rPr>
              <a:t>Aumenta la cantidad de clases</a:t>
            </a:r>
          </a:p>
          <a:p>
            <a:pPr algn="l">
              <a:buClr>
                <a:srgbClr val="FF0000"/>
              </a:buClr>
            </a:pPr>
            <a:r>
              <a:rPr lang="es-ES" sz="3600" dirty="0">
                <a:latin typeface="Arial" panose="020B0604020202020204" pitchFamily="34" charset="0"/>
                <a:cs typeface="Arial" panose="020B0604020202020204" pitchFamily="34" charset="0"/>
              </a:rPr>
              <a:t>Cada acción suele convertirse en una clase independiente.</a:t>
            </a:r>
          </a:p>
          <a:p>
            <a:pPr marL="571500" indent="-571500" algn="l">
              <a:buClr>
                <a:srgbClr val="FF0000"/>
              </a:buClr>
              <a:buFontTx/>
              <a:buChar char="X"/>
            </a:pPr>
            <a:r>
              <a:rPr lang="es-ES" sz="3600" b="1" dirty="0">
                <a:latin typeface="Arial Black" panose="020B0A04020102020204" pitchFamily="34" charset="0"/>
              </a:rPr>
              <a:t>Mayor complejidad estructural</a:t>
            </a:r>
          </a:p>
          <a:p>
            <a:pPr algn="l">
              <a:buClr>
                <a:srgbClr val="FF0000"/>
              </a:buClr>
            </a:pPr>
            <a:r>
              <a:rPr lang="es-ES" sz="3600" dirty="0">
                <a:latin typeface="Arial" panose="020B0604020202020204" pitchFamily="34" charset="0"/>
                <a:cs typeface="Arial" panose="020B0604020202020204" pitchFamily="34" charset="0"/>
              </a:rPr>
              <a:t>Puede hacer el sistema más complejo en aplicaciones pequeñas.</a:t>
            </a:r>
          </a:p>
          <a:p>
            <a:pPr marL="571500" indent="-571500" algn="l">
              <a:buClr>
                <a:srgbClr val="FF0000"/>
              </a:buClr>
              <a:buFontTx/>
              <a:buChar char="X"/>
            </a:pPr>
            <a:r>
              <a:rPr lang="es-ES" sz="3600" b="1" dirty="0">
                <a:latin typeface="Arial Black" panose="020B0A04020102020204" pitchFamily="34" charset="0"/>
              </a:rPr>
              <a:t>Más código </a:t>
            </a:r>
            <a:r>
              <a:rPr lang="es-ES" sz="3600" b="1" dirty="0" err="1">
                <a:latin typeface="Arial Black" panose="020B0A04020102020204" pitchFamily="34" charset="0"/>
              </a:rPr>
              <a:t>boilerplate</a:t>
            </a:r>
            <a:endParaRPr lang="es-ES" sz="3600" b="1" dirty="0">
              <a:latin typeface="Arial Black" panose="020B0A04020102020204" pitchFamily="34" charset="0"/>
            </a:endParaRPr>
          </a:p>
          <a:p>
            <a:pPr algn="l">
              <a:buClr>
                <a:srgbClr val="FF0000"/>
              </a:buClr>
            </a:pPr>
            <a:r>
              <a:rPr lang="es-ES" sz="3600" dirty="0">
                <a:latin typeface="Arial" panose="020B0604020202020204" pitchFamily="34" charset="0"/>
                <a:cs typeface="Arial" panose="020B0604020202020204" pitchFamily="34" charset="0"/>
              </a:rPr>
              <a:t>Se deben crear interfaces, comandos concretos y relaciones adicionales.</a:t>
            </a:r>
          </a:p>
          <a:p>
            <a:pPr marL="571500" indent="-571500" algn="l">
              <a:buClr>
                <a:srgbClr val="FF0000"/>
              </a:buClr>
              <a:buFontTx/>
              <a:buChar char="X"/>
            </a:pPr>
            <a:r>
              <a:rPr lang="es-ES" sz="3600" b="1" dirty="0">
                <a:latin typeface="Arial Black" panose="020B0A04020102020204" pitchFamily="34" charset="0"/>
              </a:rPr>
              <a:t>Puede ser innecesario en sistemas simples</a:t>
            </a:r>
          </a:p>
          <a:p>
            <a:pPr algn="l">
              <a:buClr>
                <a:srgbClr val="FF0000"/>
              </a:buClr>
            </a:pPr>
            <a:r>
              <a:rPr lang="es-ES" sz="3600" dirty="0">
                <a:latin typeface="Arial" panose="020B0604020202020204" pitchFamily="34" charset="0"/>
                <a:cs typeface="Arial" panose="020B0604020202020204" pitchFamily="34" charset="0"/>
              </a:rPr>
              <a:t>Si el sistema tiene pocas acciones, el patrón puede ser excesivo.</a:t>
            </a:r>
          </a:p>
          <a:p>
            <a:pPr marL="571500" indent="-571500" algn="l">
              <a:buClr>
                <a:srgbClr val="FF0000"/>
              </a:buClr>
              <a:buFontTx/>
              <a:buChar char="X"/>
            </a:pPr>
            <a:r>
              <a:rPr lang="es-ES" sz="3600" b="1" dirty="0">
                <a:latin typeface="Arial Black" panose="020B0A04020102020204" pitchFamily="34" charset="0"/>
              </a:rPr>
              <a:t>Mayor esfuerzo de diseño inicial</a:t>
            </a:r>
          </a:p>
          <a:p>
            <a:pPr algn="l">
              <a:buClr>
                <a:srgbClr val="FF0000"/>
              </a:buClr>
            </a:pPr>
            <a:r>
              <a:rPr lang="es-ES" sz="3600" dirty="0">
                <a:latin typeface="Arial" panose="020B0604020202020204" pitchFamily="34" charset="0"/>
                <a:cs typeface="Arial" panose="020B0604020202020204" pitchFamily="34" charset="0"/>
              </a:rPr>
              <a:t>Requiere planear correctamente las responsabilidades del sistema.</a:t>
            </a:r>
          </a:p>
        </p:txBody>
      </p:sp>
      <p:sp>
        <p:nvSpPr>
          <p:cNvPr id="4" name="object 4" descr="$PPTXTitle"/>
          <p:cNvSpPr txBox="1">
            <a:spLocks noGrp="1"/>
          </p:cNvSpPr>
          <p:nvPr>
            <p:ph type="title"/>
          </p:nvPr>
        </p:nvSpPr>
        <p:spPr>
          <a:xfrm>
            <a:off x="1283053" y="1333500"/>
            <a:ext cx="13886815" cy="766877"/>
          </a:xfrm>
          <a:prstGeom prst="rect">
            <a:avLst/>
          </a:prstGeom>
        </p:spPr>
        <p:txBody>
          <a:bodyPr vert="horz" wrap="square" lIns="0" tIns="12700" rIns="0" bIns="0" rtlCol="0">
            <a:spAutoFit/>
          </a:bodyPr>
          <a:lstStyle/>
          <a:p>
            <a:pPr marL="12700">
              <a:lnSpc>
                <a:spcPct val="100000"/>
              </a:lnSpc>
              <a:spcBef>
                <a:spcPts val="100"/>
              </a:spcBef>
            </a:pPr>
            <a:r>
              <a:rPr lang="es-ES" spc="-275" dirty="0"/>
              <a:t>LIMITACIONES DEL PATRON COMMAND</a:t>
            </a:r>
            <a:endParaRPr spc="-120" dirty="0"/>
          </a:p>
        </p:txBody>
      </p:sp>
      <p:pic>
        <p:nvPicPr>
          <p:cNvPr id="5" name="Imagen 4" descr="Letra x - Iconos gratis de formas y simbolos">
            <a:extLst>
              <a:ext uri="{FF2B5EF4-FFF2-40B4-BE49-F238E27FC236}">
                <a16:creationId xmlns:a16="http://schemas.microsoft.com/office/drawing/2014/main" id="{FF6F0422-B190-C328-F51F-BBF321196D8E}"/>
              </a:ext>
            </a:extLst>
          </p:cNvPr>
          <p:cNvPicPr>
            <a:picLocks noChangeAspect="1"/>
          </p:cNvPicPr>
          <p:nvPr/>
        </p:nvPicPr>
        <p:blipFill>
          <a:blip r:embed="rId2"/>
          <a:stretch>
            <a:fillRect/>
          </a:stretch>
        </p:blipFill>
        <p:spPr>
          <a:xfrm>
            <a:off x="1250856" y="4229100"/>
            <a:ext cx="1828800" cy="18288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 y="0"/>
            <a:ext cx="18287998" cy="1028699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370</TotalTime>
  <Words>965</Words>
  <Application>Microsoft Office PowerPoint</Application>
  <PresentationFormat>Personalizado</PresentationFormat>
  <Paragraphs>92</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Arial Black</vt:lpstr>
      <vt:lpstr>Wingdings</vt:lpstr>
      <vt:lpstr>Office Theme</vt:lpstr>
      <vt:lpstr>Presentación de PowerPoint</vt:lpstr>
      <vt:lpstr>PATRON DE COMPORTAMIENTO: COMMAND</vt:lpstr>
      <vt:lpstr>PROBLEMA Y QUE RESUELVE</vt:lpstr>
      <vt:lpstr>INTENCIÓN DEL PATRON</vt:lpstr>
      <vt:lpstr>CONTEXTO DE USO</vt:lpstr>
      <vt:lpstr>DIAGRAMA UML</vt:lpstr>
      <vt:lpstr>Explicacion del funcionamiento</vt:lpstr>
      <vt:lpstr>PLANTEAMIENTO PROBLEMA REAL</vt:lpstr>
      <vt:lpstr>VENTAJAS DEL PATRON COMMAND</vt:lpstr>
      <vt:lpstr>LIMITACIONES DEL PATRON COMMAND</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kevinruizpalacio88</dc:creator>
  <cp:keywords>DAHKZ-cmFTA,BAEe_t18tBI,0</cp:keywords>
  <cp:lastModifiedBy>WinterOS</cp:lastModifiedBy>
  <cp:revision>2</cp:revision>
  <dcterms:created xsi:type="dcterms:W3CDTF">2026-05-27T15:10:55Z</dcterms:created>
  <dcterms:modified xsi:type="dcterms:W3CDTF">2026-05-28T15:33:57Z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2026-05-24T00:00:00Z</vt:filetime>
  </property>
  <property fmtid="{D5CDD505-2E9C-101B-9397-08002B2CF9AE}" pid="4" name="Creator">
    <vt:lpwstr>Canva</vt:lpwstr>
  </property>
  <property fmtid="{D5CDD505-2E9C-101B-9397-08002B2CF9AE}" pid="5" name="LastSaved">
    <vt:filetime>2026-05-27T00:00:00Z</vt:filetime>
  </property>
  <property fmtid="{D5CDD505-2E9C-101B-9397-08002B2CF9AE}" pid="6" name="Producer">
    <vt:lpwstr>Canva</vt:lpwstr>
  </property>
</Properties>
</file>